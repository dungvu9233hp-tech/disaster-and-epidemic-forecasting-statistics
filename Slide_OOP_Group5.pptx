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32"/>
  </p:notesMasterIdLst>
  <p:handoutMasterIdLst>
    <p:handoutMasterId r:id="rId33"/>
  </p:handoutMasterIdLst>
  <p:sldIdLst>
    <p:sldId id="275" r:id="rId2"/>
    <p:sldId id="257" r:id="rId3"/>
    <p:sldId id="265" r:id="rId4"/>
    <p:sldId id="277" r:id="rId5"/>
    <p:sldId id="299" r:id="rId6"/>
    <p:sldId id="278" r:id="rId7"/>
    <p:sldId id="271" r:id="rId8"/>
    <p:sldId id="300" r:id="rId9"/>
    <p:sldId id="280" r:id="rId10"/>
    <p:sldId id="282" r:id="rId11"/>
    <p:sldId id="302" r:id="rId12"/>
    <p:sldId id="279" r:id="rId13"/>
    <p:sldId id="281" r:id="rId14"/>
    <p:sldId id="284" r:id="rId15"/>
    <p:sldId id="283" r:id="rId16"/>
    <p:sldId id="286" r:id="rId17"/>
    <p:sldId id="267" r:id="rId18"/>
    <p:sldId id="298" r:id="rId19"/>
    <p:sldId id="303" r:id="rId20"/>
    <p:sldId id="274" r:id="rId21"/>
    <p:sldId id="287" r:id="rId22"/>
    <p:sldId id="288" r:id="rId23"/>
    <p:sldId id="289" r:id="rId24"/>
    <p:sldId id="290" r:id="rId25"/>
    <p:sldId id="292" r:id="rId26"/>
    <p:sldId id="294" r:id="rId27"/>
    <p:sldId id="293" r:id="rId28"/>
    <p:sldId id="295" r:id="rId29"/>
    <p:sldId id="297" r:id="rId30"/>
    <p:sldId id="269"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82" d="100"/>
          <a:sy n="82" d="100"/>
        </p:scale>
        <p:origin x="14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0" i="0" u="none" strike="noStrike" kern="1200" cap="none" spc="50" baseline="0">
                <a:solidFill>
                  <a:schemeClr val="tx1">
                    <a:lumMod val="65000"/>
                    <a:lumOff val="35000"/>
                  </a:schemeClr>
                </a:solidFill>
                <a:latin typeface="+mn-lt"/>
                <a:ea typeface="+mn-ea"/>
                <a:cs typeface="+mn-cs"/>
              </a:defRPr>
            </a:pPr>
            <a:r>
              <a:rPr lang="en-US"/>
              <a:t>Hotspot Analysis </a:t>
            </a:r>
          </a:p>
        </c:rich>
      </c:tx>
      <c:layout>
        <c:manualLayout>
          <c:xMode val="edge"/>
          <c:yMode val="edge"/>
          <c:x val="0.32779310344827584"/>
          <c:y val="3.608247422680412E-2"/>
        </c:manualLayout>
      </c:layout>
      <c:overlay val="0"/>
      <c:spPr>
        <a:noFill/>
        <a:ln>
          <a:noFill/>
        </a:ln>
        <a:effectLst/>
      </c:spPr>
      <c:txPr>
        <a:bodyPr rot="0" spcFirstLastPara="1" vertOverflow="ellipsis" vert="horz" wrap="square" anchor="ctr" anchorCtr="1"/>
        <a:lstStyle/>
        <a:p>
          <a:pPr>
            <a:defRPr sz="2128" b="0" i="0" u="none" strike="noStrike" kern="1200" cap="none" spc="50" baseline="0">
              <a:solidFill>
                <a:schemeClr val="tx1">
                  <a:lumMod val="65000"/>
                  <a:lumOff val="35000"/>
                </a:schemeClr>
              </a:solidFill>
              <a:latin typeface="+mn-lt"/>
              <a:ea typeface="+mn-ea"/>
              <a:cs typeface="+mn-cs"/>
            </a:defRPr>
          </a:pPr>
          <a:endParaRPr lang="vi-VN"/>
        </a:p>
      </c:txPr>
    </c:title>
    <c:autoTitleDeleted val="0"/>
    <c:view3D>
      <c:rotX val="15"/>
      <c:rotY val="20"/>
      <c:depthPercent val="100"/>
      <c:rAngAx val="1"/>
    </c:view3D>
    <c:floor>
      <c:thickness val="0"/>
      <c:spPr>
        <a:solidFill>
          <a:schemeClr val="lt1">
            <a:alpha val="27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Sheet1!$B$1</c:f>
              <c:strCache>
                <c:ptCount val="1"/>
                <c:pt idx="0">
                  <c:v>lượt nhắc</c:v>
                </c:pt>
              </c:strCache>
            </c:strRef>
          </c:tx>
          <c:spPr>
            <a:solidFill>
              <a:schemeClr val="accent1"/>
            </a:solidFill>
            <a:ln>
              <a:solidFill>
                <a:schemeClr val="accent1">
                  <a:lumMod val="75000"/>
                </a:schemeClr>
              </a:solidFill>
            </a:ln>
            <a:effectLst/>
            <a:scene3d>
              <a:camera prst="orthographicFront"/>
              <a:lightRig rig="threePt" dir="t"/>
            </a:scene3d>
            <a:sp3d prstMaterial="translucentPowder">
              <a:contourClr>
                <a:schemeClr val="accent1">
                  <a:lumMod val="75000"/>
                </a:scheme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Hải Phòng</c:v>
                </c:pt>
                <c:pt idx="1">
                  <c:v>Hà Nội</c:v>
                </c:pt>
                <c:pt idx="2">
                  <c:v>Hưng Yên</c:v>
                </c:pt>
                <c:pt idx="3">
                  <c:v>Quảng Ninh</c:v>
                </c:pt>
              </c:strCache>
            </c:strRef>
          </c:cat>
          <c:val>
            <c:numRef>
              <c:f>Sheet1!$B$2:$B$5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0-AD76-46C0-BC12-D5B727445FFA}"/>
            </c:ext>
          </c:extLst>
        </c:ser>
        <c:dLbls>
          <c:showLegendKey val="0"/>
          <c:showVal val="1"/>
          <c:showCatName val="0"/>
          <c:showSerName val="0"/>
          <c:showPercent val="0"/>
          <c:showBubbleSize val="0"/>
        </c:dLbls>
        <c:gapWidth val="150"/>
        <c:shape val="box"/>
        <c:axId val="1498398127"/>
        <c:axId val="1498389007"/>
        <c:axId val="0"/>
      </c:bar3DChart>
      <c:catAx>
        <c:axId val="149839812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vi-VN"/>
          </a:p>
        </c:txPr>
        <c:crossAx val="1498389007"/>
        <c:crosses val="autoZero"/>
        <c:auto val="1"/>
        <c:lblAlgn val="ctr"/>
        <c:lblOffset val="100"/>
        <c:noMultiLvlLbl val="0"/>
      </c:catAx>
      <c:valAx>
        <c:axId val="1498389007"/>
        <c:scaling>
          <c:orientation val="minMax"/>
        </c:scaling>
        <c:delete val="0"/>
        <c:axPos val="b"/>
        <c:majorGridlines>
          <c:spPr>
            <a:ln w="9525" cap="flat" cmpd="sng" algn="ctr">
              <a:solidFill>
                <a:schemeClr val="tx1">
                  <a:lumMod val="5000"/>
                  <a:lumOff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vi-VN"/>
          </a:p>
        </c:txPr>
        <c:crossAx val="14983981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vi-V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vi-V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2">
  <cs:axisTitle>
    <cs:lnRef idx="0"/>
    <cs:fillRef idx="0"/>
    <cs:effectRef idx="0"/>
    <cs:fontRef idx="minor">
      <a:schemeClr val="tx1">
        <a:lumMod val="50000"/>
        <a:lumOff val="50000"/>
      </a:schemeClr>
    </cs:fontRef>
    <cs:defRPr sz="1197" kern="1200"/>
  </cs:axisTitle>
  <cs:categoryAxis>
    <cs:lnRef idx="0"/>
    <cs:fillRef idx="0"/>
    <cs:effectRef idx="0"/>
    <cs:fontRef idx="minor">
      <a:schemeClr val="tx1">
        <a:lumMod val="50000"/>
        <a:lumOff val="50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lumMod val="75000"/>
          </a:schemeClr>
        </a:solidFill>
      </a:ln>
    </cs:spPr>
  </cs:dataPoint>
  <cs:dataPoint3D>
    <cs:lnRef idx="0">
      <cs:styleClr val="auto"/>
    </cs:lnRef>
    <cs:fillRef idx="0">
      <cs:styleClr val="auto"/>
    </cs:fillRef>
    <cs:effectRef idx="0"/>
    <cs:fontRef idx="minor">
      <a:schemeClr val="tx1"/>
    </cs:fontRef>
    <cs:spPr>
      <a:solidFill>
        <a:schemeClr val="phClr"/>
      </a:solidFill>
      <a:ln>
        <a:solidFill>
          <a:schemeClr val="phClr">
            <a:lumMod val="75000"/>
          </a:schemeClr>
        </a:solidFill>
      </a:ln>
      <a:scene3d>
        <a:camera prst="orthographicFront"/>
        <a:lightRig rig="threePt" dir="t"/>
      </a:scene3d>
      <a:sp3d prstMaterial="translucentPowder"/>
    </cs:spPr>
  </cs:dataPoint3D>
  <cs:dataPointLine>
    <cs:lnRef idx="0">
      <cs:styleClr val="auto"/>
    </cs:lnRef>
    <cs:fillRef idx="0"/>
    <cs:effectRef idx="0"/>
    <cs:fontRef idx="minor">
      <a:schemeClr val="tx1"/>
    </cs:fontRef>
    <cs:spPr>
      <a:ln w="28575" cap="rnd">
        <a:solidFill>
          <a:schemeClr val="phClr">
            <a:alpha val="70000"/>
          </a:schemeClr>
        </a:solidFill>
        <a:round/>
      </a:ln>
    </cs:spPr>
  </cs:dataPointLine>
  <cs:dataPointMarker>
    <cs:lnRef idx="0">
      <cs:styleClr val="auto"/>
    </cs:lnRef>
    <cs:fillRef idx="0">
      <cs:styleClr val="auto"/>
    </cs:fillRef>
    <cs:effectRef idx="0"/>
    <cs:fontRef idx="minor">
      <a:schemeClr val="dk1"/>
    </cs:fontRef>
    <cs:spPr>
      <a:solidFill>
        <a:schemeClr val="phClr">
          <a:alpha val="70000"/>
        </a:schemeClr>
      </a:solidFill>
      <a:ln>
        <a:solidFill>
          <a:schemeClr val="phClr">
            <a:lumMod val="75000"/>
          </a:schemeClr>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tx1"/>
    </cs:fontRef>
    <cs:spPr>
      <a:solidFill>
        <a:schemeClr val="lt1">
          <a:alpha val="27000"/>
        </a:schemeClr>
      </a:solidFill>
      <a:sp3d/>
    </cs:spPr>
  </cs:floor>
  <cs:gridlineMajor>
    <cs:lnRef idx="0"/>
    <cs:fillRef idx="0"/>
    <cs:effectRef idx="0"/>
    <cs:fontRef idx="minor">
      <a:schemeClr val="tx1"/>
    </cs:fontRef>
    <cs:spPr>
      <a:ln w="9525" cap="flat" cmpd="sng" algn="ctr">
        <a:solidFill>
          <a:schemeClr val="tx1">
            <a:lumMod val="5000"/>
            <a:lumOff val="95000"/>
          </a:schemeClr>
        </a:solidFill>
        <a:round/>
      </a:ln>
    </cs:spPr>
  </cs:gridlineMajor>
  <cs:gridlineMinor>
    <cs:lnRef idx="0"/>
    <cs:fillRef idx="0"/>
    <cs:effectRef idx="0"/>
    <cs:fontRef idx="minor">
      <a:schemeClr val="tx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50000"/>
        <a:lumOff val="50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0" kern="1200" cap="none" spc="5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tx1"/>
    </cs:fontRef>
    <cs:spPr>
      <a:sp3d/>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6/14/2026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6/14/2026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6/14/2026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6/14/2026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6/14/2026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6/14/2026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6/14/2026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6/14/2026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6/14/2026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83" r:id="rId5"/>
    <p:sldLayoutId id="2147483676" r:id="rId6"/>
    <p:sldLayoutId id="2147483679" r:id="rId7"/>
    <p:sldLayoutId id="2147483680" r:id="rId8"/>
    <p:sldLayoutId id="2147483681" r:id="rId9"/>
    <p:sldLayoutId id="2147483682" r:id="rId10"/>
    <p:sldLayoutId id="214748367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kimmand0o0.github.io/study/javascript/2025/01/24/OOP.html" TargetMode="External"/><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wskills.com/blog/java-oop-tutorial/" TargetMode="External"/><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torneseumprogramador.com.br/cursos/design_patterns" TargetMode="External"/><Relationship Id="rId7" Type="http://schemas.openxmlformats.org/officeDocument/2006/relationships/hyperlink" Target="https://www.youtube.com/watch?v=BqbTu1syqJI" TargetMode="External"/><Relationship Id="rId2"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image" Target="../media/image25.jpg"/><Relationship Id="rId5" Type="http://schemas.openxmlformats.org/officeDocument/2006/relationships/hyperlink" Target="https://techvidvan.com/tutorials/java-exception-handling/" TargetMode="External"/><Relationship Id="rId4" Type="http://schemas.openxmlformats.org/officeDocument/2006/relationships/image" Target="../media/image2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hyperlink" Target="https://gemini.google/ca/overview/personalization/?hl=en-CA" TargetMode="External"/><Relationship Id="rId2" Type="http://schemas.openxmlformats.org/officeDocument/2006/relationships/image" Target="../media/image26.png"/><Relationship Id="rId1" Type="http://schemas.openxmlformats.org/officeDocument/2006/relationships/slideLayout" Target="../slideLayouts/slideLayout10.xml"/><Relationship Id="rId4" Type="http://schemas.openxmlformats.org/officeDocument/2006/relationships/image" Target="../media/image2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1636412"/>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t>GROUP </a:t>
            </a:r>
            <a:r>
              <a:rPr lang="en-US"/>
              <a:t>5 - </a:t>
            </a:r>
            <a:r>
              <a:rPr lang="en-US" dirty="0"/>
              <a:t>OOP</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2626425"/>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dirty="0" err="1"/>
              <a:t>Ứng</a:t>
            </a:r>
            <a:r>
              <a:rPr lang="en-US" sz="2800" b="0" dirty="0"/>
              <a:t> </a:t>
            </a:r>
            <a:r>
              <a:rPr lang="en-US" sz="2800" b="0" dirty="0" err="1"/>
              <a:t>dụng</a:t>
            </a:r>
            <a:r>
              <a:rPr lang="en-US" sz="2800" b="0" dirty="0"/>
              <a:t> </a:t>
            </a:r>
            <a:r>
              <a:rPr lang="en-US" sz="2800" b="0" dirty="0" err="1"/>
              <a:t>dữ</a:t>
            </a:r>
            <a:r>
              <a:rPr lang="en-US" sz="2800" b="0" dirty="0"/>
              <a:t> </a:t>
            </a:r>
            <a:r>
              <a:rPr lang="en-US" sz="2800" b="0" dirty="0" err="1"/>
              <a:t>liệu</a:t>
            </a:r>
            <a:r>
              <a:rPr lang="en-US" sz="2800" b="0" dirty="0"/>
              <a:t> </a:t>
            </a:r>
            <a:r>
              <a:rPr lang="en-US" sz="2800" b="0" dirty="0" err="1"/>
              <a:t>mạng</a:t>
            </a:r>
            <a:r>
              <a:rPr lang="en-US" sz="2800" b="0" dirty="0"/>
              <a:t> </a:t>
            </a:r>
            <a:r>
              <a:rPr lang="en-US" sz="2800" b="0" dirty="0" err="1"/>
              <a:t>xã</a:t>
            </a:r>
            <a:r>
              <a:rPr lang="en-US" sz="2800" b="0" dirty="0"/>
              <a:t> </a:t>
            </a:r>
            <a:r>
              <a:rPr lang="en-US" sz="2800" b="0" dirty="0" err="1"/>
              <a:t>hội</a:t>
            </a:r>
            <a:r>
              <a:rPr lang="en-US" sz="2800" b="0" dirty="0"/>
              <a:t> </a:t>
            </a:r>
            <a:r>
              <a:rPr lang="en-US" sz="2800" b="0" dirty="0" err="1"/>
              <a:t>để</a:t>
            </a:r>
            <a:r>
              <a:rPr lang="en-US" sz="2800" b="0" dirty="0"/>
              <a:t> </a:t>
            </a:r>
            <a:r>
              <a:rPr lang="en-US" sz="2800" b="0" dirty="0" err="1"/>
              <a:t>nâng</a:t>
            </a:r>
            <a:r>
              <a:rPr lang="en-US" sz="2800" b="0" dirty="0"/>
              <a:t> </a:t>
            </a:r>
            <a:r>
              <a:rPr lang="en-US" sz="2800" b="0" dirty="0" err="1"/>
              <a:t>cao</a:t>
            </a:r>
            <a:r>
              <a:rPr lang="en-US" sz="2800" b="0" dirty="0"/>
              <a:t> </a:t>
            </a:r>
            <a:r>
              <a:rPr lang="en-US" sz="2800" b="0" dirty="0" err="1"/>
              <a:t>hiệu</a:t>
            </a:r>
            <a:r>
              <a:rPr lang="en-US" sz="2800" b="0" dirty="0"/>
              <a:t> </a:t>
            </a:r>
            <a:r>
              <a:rPr lang="en-US" sz="2800" b="0" dirty="0" err="1"/>
              <a:t>quả</a:t>
            </a:r>
            <a:r>
              <a:rPr lang="en-US" sz="2800" b="0" dirty="0"/>
              <a:t> </a:t>
            </a:r>
            <a:r>
              <a:rPr lang="en-US" sz="2800" b="0" dirty="0" err="1"/>
              <a:t>trong</a:t>
            </a:r>
            <a:r>
              <a:rPr lang="en-US" sz="2800" b="0" dirty="0"/>
              <a:t> logistics </a:t>
            </a:r>
            <a:r>
              <a:rPr lang="en-US" sz="2800" b="0" dirty="0" err="1"/>
              <a:t>nhân</a:t>
            </a:r>
            <a:r>
              <a:rPr lang="en-US" sz="2800" b="0" dirty="0"/>
              <a:t> </a:t>
            </a:r>
            <a:r>
              <a:rPr lang="en-US" sz="2800" b="0" dirty="0" err="1"/>
              <a:t>đạo</a:t>
            </a:r>
            <a:endParaRPr lang="en-US" sz="2800" b="0" dirty="0"/>
          </a:p>
          <a:p>
            <a:endParaRPr lang="en-US" sz="2800" b="0" dirty="0"/>
          </a:p>
        </p:txBody>
      </p:sp>
      <p:sp>
        <p:nvSpPr>
          <p:cNvPr id="2" name="Title 6">
            <a:extLst>
              <a:ext uri="{FF2B5EF4-FFF2-40B4-BE49-F238E27FC236}">
                <a16:creationId xmlns:a16="http://schemas.microsoft.com/office/drawing/2014/main" id="{F40FE172-6237-7620-2E29-9BF40668A561}"/>
              </a:ext>
            </a:extLst>
          </p:cNvPr>
          <p:cNvSpPr txBox="1">
            <a:spLocks/>
          </p:cNvSpPr>
          <p:nvPr/>
        </p:nvSpPr>
        <p:spPr>
          <a:xfrm>
            <a:off x="413012" y="359555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dirty="0">
                <a:solidFill>
                  <a:srgbClr val="FF0000"/>
                </a:solidFill>
              </a:rPr>
              <a:t>Lecturer: </a:t>
            </a:r>
            <a:r>
              <a:rPr lang="en-US" sz="2800" dirty="0" err="1">
                <a:solidFill>
                  <a:srgbClr val="FF0000"/>
                </a:solidFill>
              </a:rPr>
              <a:t>PhD.Trịnh</a:t>
            </a:r>
            <a:r>
              <a:rPr lang="en-US" sz="2800" dirty="0">
                <a:solidFill>
                  <a:srgbClr val="FF0000"/>
                </a:solidFill>
              </a:rPr>
              <a:t> Tuấn Đạt</a:t>
            </a:r>
          </a:p>
        </p:txBody>
      </p:sp>
      <p:sp>
        <p:nvSpPr>
          <p:cNvPr id="3" name="Title 6">
            <a:extLst>
              <a:ext uri="{FF2B5EF4-FFF2-40B4-BE49-F238E27FC236}">
                <a16:creationId xmlns:a16="http://schemas.microsoft.com/office/drawing/2014/main" id="{001C51D1-EDE2-1C58-13D3-1BE8AF9D262B}"/>
              </a:ext>
            </a:extLst>
          </p:cNvPr>
          <p:cNvSpPr txBox="1">
            <a:spLocks/>
          </p:cNvSpPr>
          <p:nvPr/>
        </p:nvSpPr>
        <p:spPr>
          <a:xfrm>
            <a:off x="413012" y="4161170"/>
            <a:ext cx="6687584" cy="1060418"/>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400">
                <a:solidFill>
                  <a:schemeClr val="tx1"/>
                </a:solidFill>
              </a:rPr>
              <a:t>Members:</a:t>
            </a:r>
            <a:r>
              <a:rPr lang="en-US" sz="2000">
                <a:solidFill>
                  <a:schemeClr val="tx1"/>
                </a:solidFill>
              </a:rPr>
              <a:t>Vũ </a:t>
            </a:r>
            <a:r>
              <a:rPr lang="en-US" sz="2000" dirty="0">
                <a:solidFill>
                  <a:schemeClr val="tx1"/>
                </a:solidFill>
              </a:rPr>
              <a:t>Lê </a:t>
            </a:r>
            <a:r>
              <a:rPr lang="en-US" sz="2000">
                <a:solidFill>
                  <a:schemeClr val="tx1"/>
                </a:solidFill>
              </a:rPr>
              <a:t>Dũng - </a:t>
            </a:r>
            <a:r>
              <a:rPr lang="en-US" sz="2000" dirty="0">
                <a:solidFill>
                  <a:schemeClr val="tx1"/>
                </a:solidFill>
              </a:rPr>
              <a:t>202416900</a:t>
            </a:r>
          </a:p>
          <a:p>
            <a:r>
              <a:rPr lang="en-US" sz="2000">
                <a:solidFill>
                  <a:schemeClr val="tx1"/>
                </a:solidFill>
              </a:rPr>
              <a:t>	       Phạm </a:t>
            </a:r>
            <a:r>
              <a:rPr lang="en-US" sz="2000" dirty="0">
                <a:solidFill>
                  <a:schemeClr val="tx1"/>
                </a:solidFill>
              </a:rPr>
              <a:t>Minh </a:t>
            </a:r>
            <a:r>
              <a:rPr lang="en-US" sz="2000">
                <a:solidFill>
                  <a:schemeClr val="tx1"/>
                </a:solidFill>
              </a:rPr>
              <a:t>Hùng - 202416928</a:t>
            </a:r>
          </a:p>
          <a:p>
            <a:r>
              <a:rPr lang="en-US" sz="2000">
                <a:solidFill>
                  <a:schemeClr val="tx1"/>
                </a:solidFill>
              </a:rPr>
              <a:t>                      Nguyễn Thị Thanh Trúc - 202417052</a:t>
            </a:r>
            <a:endParaRPr lang="en-US" sz="2000" dirty="0">
              <a:solidFill>
                <a:schemeClr val="tx1"/>
              </a:solidFill>
            </a:endParaRPr>
          </a:p>
        </p:txBody>
      </p:sp>
    </p:spTree>
    <p:extLst>
      <p:ext uri="{BB962C8B-B14F-4D97-AF65-F5344CB8AC3E}">
        <p14:creationId xmlns:p14="http://schemas.microsoft.com/office/powerpoint/2010/main" val="74317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err="1"/>
              <a:t>Nội</a:t>
            </a:r>
            <a:r>
              <a:rPr lang="en-US" dirty="0"/>
              <a:t> dung</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a:xfrm>
            <a:off x="123109" y="930298"/>
            <a:ext cx="7931020" cy="4866776"/>
          </a:xfrm>
        </p:spPr>
        <p:txBody>
          <a:bodyPr/>
          <a:lstStyle/>
          <a:p>
            <a:pPr marL="0" indent="0">
              <a:buNone/>
            </a:pPr>
            <a:r>
              <a:rPr lang="en-US" b="1" dirty="0"/>
              <a:t>1. </a:t>
            </a:r>
            <a:r>
              <a:rPr lang="en-US" b="1" dirty="0" err="1"/>
              <a:t>Tổng</a:t>
            </a:r>
            <a:r>
              <a:rPr lang="en-US" b="1" dirty="0"/>
              <a:t> </a:t>
            </a:r>
            <a:r>
              <a:rPr lang="en-US" b="1" dirty="0" err="1"/>
              <a:t>quan</a:t>
            </a:r>
            <a:r>
              <a:rPr lang="en-US" b="1" dirty="0"/>
              <a:t> </a:t>
            </a:r>
            <a:r>
              <a:rPr lang="en-US" b="1" dirty="0" err="1"/>
              <a:t>dự</a:t>
            </a:r>
            <a:r>
              <a:rPr lang="en-US" b="1" dirty="0"/>
              <a:t> </a:t>
            </a:r>
            <a:r>
              <a:rPr lang="en-US" b="1" dirty="0" err="1"/>
              <a:t>án</a:t>
            </a:r>
            <a:endParaRPr lang="en-US" b="1" dirty="0"/>
          </a:p>
          <a:p>
            <a:pPr marL="0" indent="0">
              <a:buNone/>
            </a:pPr>
            <a:r>
              <a:rPr lang="en-US" b="1" dirty="0"/>
              <a:t>2. </a:t>
            </a:r>
            <a:r>
              <a:rPr lang="en-US" b="1" dirty="0" err="1"/>
              <a:t>Biểu</a:t>
            </a:r>
            <a:r>
              <a:rPr lang="en-US" b="1" dirty="0"/>
              <a:t> </a:t>
            </a:r>
            <a:r>
              <a:rPr lang="en-US" b="1" dirty="0" err="1"/>
              <a:t>đồ</a:t>
            </a:r>
            <a:r>
              <a:rPr lang="en-US" b="1" dirty="0"/>
              <a:t> UML - </a:t>
            </a:r>
            <a:r>
              <a:rPr lang="en-US" b="1" dirty="0" err="1"/>
              <a:t>Thiết</a:t>
            </a:r>
            <a:r>
              <a:rPr lang="en-US" b="1" dirty="0"/>
              <a:t> </a:t>
            </a:r>
            <a:r>
              <a:rPr lang="en-US" b="1" dirty="0" err="1"/>
              <a:t>kế</a:t>
            </a:r>
            <a:r>
              <a:rPr lang="en-US" b="1" dirty="0"/>
              <a:t> </a:t>
            </a:r>
            <a:r>
              <a:rPr lang="en-US" b="1" dirty="0" err="1"/>
              <a:t>hệ</a:t>
            </a:r>
            <a:r>
              <a:rPr lang="en-US" b="1" dirty="0"/>
              <a:t> </a:t>
            </a:r>
            <a:r>
              <a:rPr lang="en-US" b="1" dirty="0" err="1"/>
              <a:t>thống</a:t>
            </a:r>
            <a:endParaRPr lang="en-US" b="1" dirty="0"/>
          </a:p>
          <a:p>
            <a:pPr marL="0" indent="0">
              <a:buNone/>
            </a:pPr>
            <a:r>
              <a:rPr lang="en-US" b="1" dirty="0"/>
              <a:t>3. </a:t>
            </a:r>
            <a:r>
              <a:rPr lang="en-US" b="1" dirty="0" err="1"/>
              <a:t>Kỹ</a:t>
            </a:r>
            <a:r>
              <a:rPr lang="en-US" b="1" dirty="0"/>
              <a:t> </a:t>
            </a:r>
            <a:r>
              <a:rPr lang="en-US" b="1" dirty="0" err="1"/>
              <a:t>thuật</a:t>
            </a:r>
            <a:r>
              <a:rPr lang="en-US" b="1" dirty="0"/>
              <a:t> </a:t>
            </a:r>
            <a:r>
              <a:rPr lang="en-US" b="1" dirty="0" err="1"/>
              <a:t>lập</a:t>
            </a:r>
            <a:r>
              <a:rPr lang="en-US" b="1" dirty="0"/>
              <a:t> </a:t>
            </a:r>
            <a:r>
              <a:rPr lang="en-US" b="1" dirty="0" err="1"/>
              <a:t>trình</a:t>
            </a:r>
            <a:r>
              <a:rPr lang="en-US" b="1" dirty="0"/>
              <a:t> - Công </a:t>
            </a:r>
            <a:r>
              <a:rPr lang="en-US" b="1" dirty="0" err="1"/>
              <a:t>nghệ</a:t>
            </a:r>
            <a:r>
              <a:rPr lang="en-US" b="1" dirty="0"/>
              <a:t> </a:t>
            </a:r>
            <a:r>
              <a:rPr lang="en-US" b="1" dirty="0" err="1"/>
              <a:t>áp</a:t>
            </a:r>
            <a:r>
              <a:rPr lang="en-US" b="1" dirty="0"/>
              <a:t> </a:t>
            </a:r>
            <a:r>
              <a:rPr lang="en-US" b="1" dirty="0" err="1"/>
              <a:t>dụng</a:t>
            </a:r>
            <a:r>
              <a:rPr lang="en-US" b="1" dirty="0"/>
              <a:t> </a:t>
            </a:r>
          </a:p>
          <a:p>
            <a:pPr marL="0" indent="0">
              <a:buNone/>
            </a:pPr>
            <a:r>
              <a:rPr lang="en-US" b="1" dirty="0"/>
              <a:t>4. </a:t>
            </a:r>
            <a:r>
              <a:rPr lang="en-US" b="1" dirty="0" err="1"/>
              <a:t>Mở</a:t>
            </a:r>
            <a:r>
              <a:rPr lang="en-US" b="1" dirty="0"/>
              <a:t> </a:t>
            </a:r>
            <a:r>
              <a:rPr lang="en-US" b="1" dirty="0" err="1"/>
              <a:t>rộng</a:t>
            </a:r>
            <a:r>
              <a:rPr lang="en-US" b="1" dirty="0"/>
              <a:t> </a:t>
            </a:r>
            <a:r>
              <a:rPr lang="en-US" b="1" dirty="0" err="1"/>
              <a:t>yêu</a:t>
            </a:r>
            <a:r>
              <a:rPr lang="en-US" b="1" dirty="0"/>
              <a:t> </a:t>
            </a:r>
            <a:r>
              <a:rPr lang="en-US" b="1" dirty="0" err="1"/>
              <a:t>cầu</a:t>
            </a:r>
            <a:endParaRPr lang="en-US" b="1" dirty="0"/>
          </a:p>
          <a:p>
            <a:pPr marL="0" indent="0">
              <a:buNone/>
            </a:pPr>
            <a:r>
              <a:rPr lang="en-US" b="1" dirty="0"/>
              <a:t>5. Demo </a:t>
            </a:r>
            <a:r>
              <a:rPr lang="en-US" b="1" dirty="0" err="1"/>
              <a:t>thực</a:t>
            </a:r>
            <a:r>
              <a:rPr lang="en-US" b="1" dirty="0"/>
              <a:t> </a:t>
            </a:r>
            <a:r>
              <a:rPr lang="en-US" b="1" dirty="0" err="1"/>
              <a:t>tế</a:t>
            </a:r>
            <a:endParaRPr lang="en-US" b="1" dirty="0"/>
          </a:p>
          <a:p>
            <a:pPr marL="0" indent="0">
              <a:buNone/>
            </a:pPr>
            <a:endParaRPr lang="en-US" b="1" dirty="0"/>
          </a:p>
        </p:txBody>
      </p:sp>
      <p:pic>
        <p:nvPicPr>
          <p:cNvPr id="6" name="Picture 5">
            <a:extLst>
              <a:ext uri="{FF2B5EF4-FFF2-40B4-BE49-F238E27FC236}">
                <a16:creationId xmlns:a16="http://schemas.microsoft.com/office/drawing/2014/main" id="{9D240595-B6E7-A01E-9149-99A630B068A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572000" y="2534458"/>
            <a:ext cx="4178085" cy="314244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2364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trips(downLeft)">
                                      <p:cBhvr>
                                        <p:cTn id="7" dur="500"/>
                                        <p:tgtEl>
                                          <p:spTgt spid="4">
                                            <p:txEl>
                                              <p:pRg st="0" end="0"/>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strips(downLeft)">
                                      <p:cBhvr>
                                        <p:cTn id="10" dur="500"/>
                                        <p:tgtEl>
                                          <p:spTgt spid="4">
                                            <p:txEl>
                                              <p:pRg st="1" end="1"/>
                                            </p:txEl>
                                          </p:spTgt>
                                        </p:tgtEl>
                                      </p:cBhvr>
                                    </p:animEffect>
                                  </p:childTnLst>
                                </p:cTn>
                              </p:par>
                              <p:par>
                                <p:cTn id="11" presetID="18" presetClass="entr" presetSubtype="12"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strips(downLeft)">
                                      <p:cBhvr>
                                        <p:cTn id="13" dur="500"/>
                                        <p:tgtEl>
                                          <p:spTgt spid="4">
                                            <p:txEl>
                                              <p:pRg st="2" end="2"/>
                                            </p:txEl>
                                          </p:spTgt>
                                        </p:tgtEl>
                                      </p:cBhvr>
                                    </p:animEffect>
                                  </p:childTnLst>
                                </p:cTn>
                              </p:par>
                              <p:par>
                                <p:cTn id="14" presetID="18" presetClass="entr" presetSubtype="12"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strips(downLeft)">
                                      <p:cBhvr>
                                        <p:cTn id="16" dur="500"/>
                                        <p:tgtEl>
                                          <p:spTgt spid="4">
                                            <p:txEl>
                                              <p:pRg st="3" end="3"/>
                                            </p:txEl>
                                          </p:spTgt>
                                        </p:tgtEl>
                                      </p:cBhvr>
                                    </p:animEffect>
                                  </p:childTnLst>
                                </p:cTn>
                              </p:par>
                              <p:par>
                                <p:cTn id="17" presetID="18" presetClass="entr" presetSubtype="12"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strips(downLeft)">
                                      <p:cBhvr>
                                        <p:cTn id="19" dur="500"/>
                                        <p:tgtEl>
                                          <p:spTgt spid="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51BDE-B100-AD63-4831-269754512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2D1E8-0047-4651-558F-B1EDC0492B80}"/>
              </a:ext>
            </a:extLst>
          </p:cNvPr>
          <p:cNvSpPr>
            <a:spLocks noGrp="1"/>
          </p:cNvSpPr>
          <p:nvPr>
            <p:ph type="title"/>
          </p:nvPr>
        </p:nvSpPr>
        <p:spPr>
          <a:xfrm>
            <a:off x="1392047" y="2860548"/>
            <a:ext cx="6359906" cy="2127504"/>
          </a:xfrm>
        </p:spPr>
        <p:txBody>
          <a:bodyPr/>
          <a:lstStyle/>
          <a:p>
            <a:r>
              <a:rPr lang="en-US" sz="5400" dirty="0"/>
              <a:t>1. </a:t>
            </a:r>
            <a:r>
              <a:rPr lang="en-US" sz="5400" dirty="0" err="1"/>
              <a:t>Tổng</a:t>
            </a:r>
            <a:r>
              <a:rPr lang="en-US" sz="5400" dirty="0"/>
              <a:t> </a:t>
            </a:r>
            <a:r>
              <a:rPr lang="en-US" sz="5400" dirty="0" err="1"/>
              <a:t>quan</a:t>
            </a:r>
            <a:r>
              <a:rPr lang="en-US" sz="5400" dirty="0"/>
              <a:t> </a:t>
            </a:r>
            <a:r>
              <a:rPr lang="en-US" sz="5400" dirty="0" err="1"/>
              <a:t>dự</a:t>
            </a:r>
            <a:r>
              <a:rPr lang="en-US" sz="5400" dirty="0"/>
              <a:t> </a:t>
            </a:r>
            <a:r>
              <a:rPr lang="en-US" sz="5400" dirty="0" err="1"/>
              <a:t>án</a:t>
            </a:r>
            <a:endParaRPr lang="en-US" sz="5400" dirty="0"/>
          </a:p>
        </p:txBody>
      </p:sp>
    </p:spTree>
    <p:extLst>
      <p:ext uri="{BB962C8B-B14F-4D97-AF65-F5344CB8AC3E}">
        <p14:creationId xmlns:p14="http://schemas.microsoft.com/office/powerpoint/2010/main" val="271257816"/>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6EB068-74D2-6E45-983C-BC4C570A9B7E}"/>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BE6D0983-B771-9124-96F7-51DAEDDEF678}"/>
              </a:ext>
            </a:extLst>
          </p:cNvPr>
          <p:cNvSpPr>
            <a:spLocks noGrp="1"/>
          </p:cNvSpPr>
          <p:nvPr>
            <p:ph type="title"/>
          </p:nvPr>
        </p:nvSpPr>
        <p:spPr/>
        <p:txBody>
          <a:bodyPr/>
          <a:lstStyle/>
          <a:p>
            <a:r>
              <a:rPr lang="en-US"/>
              <a:t>1. Tổng quan dự án</a:t>
            </a:r>
          </a:p>
        </p:txBody>
      </p:sp>
      <p:sp>
        <p:nvSpPr>
          <p:cNvPr id="5" name="Chart Placeholder 2">
            <a:extLst>
              <a:ext uri="{FF2B5EF4-FFF2-40B4-BE49-F238E27FC236}">
                <a16:creationId xmlns:a16="http://schemas.microsoft.com/office/drawing/2014/main" id="{B82776F7-494C-C80A-D452-255061DB6B8F}"/>
              </a:ext>
            </a:extLst>
          </p:cNvPr>
          <p:cNvSpPr>
            <a:spLocks noGrp="1"/>
          </p:cNvSpPr>
          <p:nvPr>
            <p:ph sz="quarter" idx="13"/>
          </p:nvPr>
        </p:nvSpPr>
        <p:spPr>
          <a:xfrm>
            <a:off x="235077" y="899320"/>
            <a:ext cx="8674100" cy="5303838"/>
          </a:xfrm>
          <a:prstGeom prst="rect">
            <a:avLst/>
          </a:prstGeom>
        </p:spPr>
        <p:txBody>
          <a:bodyPr/>
          <a:lstStyle/>
          <a:p>
            <a:pPr marL="0" indent="0" fontAlgn="base">
              <a:buNone/>
            </a:pPr>
            <a:r>
              <a:rPr lang="vi-VN" sz="2200" b="1" dirty="0">
                <a:latin typeface="Lato" panose="020F0502020204030203" pitchFamily="34" charset="0"/>
                <a:ea typeface="Lato" panose="020F0502020204030203" pitchFamily="34" charset="0"/>
                <a:cs typeface="Lato" panose="020F0502020204030203" pitchFamily="34" charset="0"/>
              </a:rPr>
              <a:t>Ứng dụng </a:t>
            </a:r>
            <a:r>
              <a:rPr lang="vi-VN" sz="2200" b="1" dirty="0" err="1">
                <a:latin typeface="Lato" panose="020F0502020204030203" pitchFamily="34" charset="0"/>
                <a:ea typeface="Lato" panose="020F0502020204030203" pitchFamily="34" charset="0"/>
                <a:cs typeface="Lato" panose="020F0502020204030203" pitchFamily="34" charset="0"/>
              </a:rPr>
              <a:t>java</a:t>
            </a:r>
            <a:r>
              <a:rPr lang="vi-VN" sz="2200" b="1" dirty="0">
                <a:latin typeface="Lato" panose="020F0502020204030203" pitchFamily="34" charset="0"/>
                <a:ea typeface="Lato" panose="020F0502020204030203" pitchFamily="34" charset="0"/>
                <a:cs typeface="Lato" panose="020F0502020204030203" pitchFamily="34" charset="0"/>
              </a:rPr>
              <a:t> </a:t>
            </a:r>
            <a:r>
              <a:rPr lang="vi-VN" sz="2200" b="1" dirty="0" err="1">
                <a:latin typeface="Lato" panose="020F0502020204030203" pitchFamily="34" charset="0"/>
                <a:ea typeface="Lato" panose="020F0502020204030203" pitchFamily="34" charset="0"/>
                <a:cs typeface="Lato" panose="020F0502020204030203" pitchFamily="34" charset="0"/>
              </a:rPr>
              <a:t>desktop</a:t>
            </a:r>
            <a:r>
              <a:rPr lang="vi-VN" sz="2200" b="1" dirty="0">
                <a:latin typeface="Lato" panose="020F0502020204030203" pitchFamily="34" charset="0"/>
                <a:ea typeface="Lato" panose="020F0502020204030203" pitchFamily="34" charset="0"/>
                <a:cs typeface="Lato" panose="020F0502020204030203" pitchFamily="34" charset="0"/>
              </a:rPr>
              <a:t> hỗ trợ giải quyết vấn đề </a:t>
            </a:r>
            <a:r>
              <a:rPr lang="vi-VN" sz="2200" b="1" dirty="0" err="1">
                <a:latin typeface="Lato" panose="020F0502020204030203" pitchFamily="34" charset="0"/>
                <a:ea typeface="Lato" panose="020F0502020204030203" pitchFamily="34" charset="0"/>
                <a:cs typeface="Lato" panose="020F0502020204030203" pitchFamily="34" charset="0"/>
              </a:rPr>
              <a:t>logistics</a:t>
            </a:r>
            <a:r>
              <a:rPr lang="vi-VN" sz="2200" b="1" dirty="0">
                <a:latin typeface="Lato" panose="020F0502020204030203" pitchFamily="34" charset="0"/>
                <a:ea typeface="Lato" panose="020F0502020204030203" pitchFamily="34" charset="0"/>
                <a:cs typeface="Lato" panose="020F0502020204030203" pitchFamily="34" charset="0"/>
              </a:rPr>
              <a:t> nhân đạo.</a:t>
            </a:r>
            <a:endParaRPr lang="en-US" sz="2200" b="1" dirty="0">
              <a:latin typeface="Lato" panose="020F0502020204030203" pitchFamily="34" charset="0"/>
              <a:ea typeface="Lato" panose="020F0502020204030203" pitchFamily="34" charset="0"/>
              <a:cs typeface="Lato" panose="020F0502020204030203" pitchFamily="34" charset="0"/>
            </a:endParaRPr>
          </a:p>
          <a:p>
            <a:pPr marL="0" indent="0" fontAlgn="base">
              <a:buNone/>
            </a:pPr>
            <a:r>
              <a:rPr lang="vi-VN" sz="2200" b="1" dirty="0">
                <a:latin typeface="Lato" panose="020F0502020204030203" pitchFamily="34" charset="0"/>
                <a:ea typeface="Lato" panose="020F0502020204030203" pitchFamily="34" charset="0"/>
                <a:cs typeface="Lato" panose="020F0502020204030203" pitchFamily="34" charset="0"/>
              </a:rPr>
              <a:t>Thu thập dữ liệu từ các nguồn: </a:t>
            </a:r>
            <a:r>
              <a:rPr lang="vi-VN" sz="2200" b="1" dirty="0" err="1">
                <a:latin typeface="Lato" panose="020F0502020204030203" pitchFamily="34" charset="0"/>
                <a:ea typeface="Lato" panose="020F0502020204030203" pitchFamily="34" charset="0"/>
                <a:cs typeface="Lato" panose="020F0502020204030203" pitchFamily="34" charset="0"/>
              </a:rPr>
              <a:t>Youtube</a:t>
            </a:r>
            <a:r>
              <a:rPr lang="vi-VN" sz="2200" b="1" dirty="0">
                <a:latin typeface="Lato" panose="020F0502020204030203" pitchFamily="34" charset="0"/>
                <a:ea typeface="Lato" panose="020F0502020204030203" pitchFamily="34" charset="0"/>
                <a:cs typeface="Lato" panose="020F0502020204030203" pitchFamily="34" charset="0"/>
              </a:rPr>
              <a:t>, </a:t>
            </a:r>
            <a:r>
              <a:rPr lang="vi-VN" sz="2200" b="1" dirty="0" err="1">
                <a:latin typeface="Lato" panose="020F0502020204030203" pitchFamily="34" charset="0"/>
                <a:ea typeface="Lato" panose="020F0502020204030203" pitchFamily="34" charset="0"/>
                <a:cs typeface="Lato" panose="020F0502020204030203" pitchFamily="34" charset="0"/>
              </a:rPr>
              <a:t>VnExpress</a:t>
            </a:r>
            <a:r>
              <a:rPr lang="vi-VN" sz="2200" b="1" dirty="0">
                <a:latin typeface="Lato" panose="020F0502020204030203" pitchFamily="34" charset="0"/>
                <a:ea typeface="Lato" panose="020F0502020204030203" pitchFamily="34" charset="0"/>
                <a:cs typeface="Lato" panose="020F0502020204030203" pitchFamily="34" charset="0"/>
              </a:rPr>
              <a:t>, </a:t>
            </a:r>
            <a:r>
              <a:rPr lang="vi-VN" sz="2200" b="1" dirty="0" err="1">
                <a:latin typeface="Lato" panose="020F0502020204030203" pitchFamily="34" charset="0"/>
                <a:ea typeface="Lato" panose="020F0502020204030203" pitchFamily="34" charset="0"/>
                <a:cs typeface="Lato" panose="020F0502020204030203" pitchFamily="34" charset="0"/>
              </a:rPr>
              <a:t>Tiktok</a:t>
            </a:r>
            <a:r>
              <a:rPr lang="vi-VN" sz="2200" b="1" dirty="0">
                <a:latin typeface="Lato" panose="020F0502020204030203" pitchFamily="34" charset="0"/>
                <a:ea typeface="Lato" panose="020F0502020204030203" pitchFamily="34" charset="0"/>
                <a:cs typeface="Lato" panose="020F0502020204030203" pitchFamily="34" charset="0"/>
              </a:rPr>
              <a:t>,….</a:t>
            </a:r>
            <a:endParaRPr lang="en-US" sz="2200" b="1" dirty="0">
              <a:latin typeface="Lato" panose="020F0502020204030203" pitchFamily="34" charset="0"/>
              <a:ea typeface="Lato" panose="020F0502020204030203" pitchFamily="34" charset="0"/>
              <a:cs typeface="Lato" panose="020F0502020204030203" pitchFamily="34" charset="0"/>
            </a:endParaRPr>
          </a:p>
          <a:p>
            <a:pPr marL="0" indent="0" fontAlgn="base">
              <a:buNone/>
            </a:pPr>
            <a:r>
              <a:rPr lang="vi-VN" sz="2200" b="1" dirty="0">
                <a:latin typeface="Lato" panose="020F0502020204030203" pitchFamily="34" charset="0"/>
                <a:ea typeface="Lato" panose="020F0502020204030203" pitchFamily="34" charset="0"/>
                <a:cs typeface="Lato" panose="020F0502020204030203" pitchFamily="34" charset="0"/>
              </a:rPr>
              <a:t>Giải quyết 3 bài toán:</a:t>
            </a:r>
          </a:p>
          <a:p>
            <a:pPr lvl="1" fontAlgn="base"/>
            <a:r>
              <a:rPr lang="vi-VN" sz="2200" b="1" dirty="0">
                <a:latin typeface="Lato" panose="020F0502020204030203" pitchFamily="34" charset="0"/>
                <a:ea typeface="Lato" panose="020F0502020204030203" pitchFamily="34" charset="0"/>
                <a:cs typeface="Lato" panose="020F0502020204030203" pitchFamily="34" charset="0"/>
              </a:rPr>
              <a:t>Theo dõi sự thay đổi tâm lý công chúng theo thời gian</a:t>
            </a:r>
          </a:p>
          <a:p>
            <a:pPr lvl="1" fontAlgn="base"/>
            <a:r>
              <a:rPr lang="vi-VN" sz="2200" b="1" dirty="0">
                <a:latin typeface="Lato" panose="020F0502020204030203" pitchFamily="34" charset="0"/>
                <a:ea typeface="Lato" panose="020F0502020204030203" pitchFamily="34" charset="0"/>
                <a:cs typeface="Lato" panose="020F0502020204030203" pitchFamily="34" charset="0"/>
              </a:rPr>
              <a:t>Xác định mức độ và loại thiệt hại phổ biến nhất</a:t>
            </a:r>
          </a:p>
          <a:p>
            <a:pPr lvl="1" fontAlgn="base"/>
            <a:r>
              <a:rPr lang="vi-VN" sz="2200" b="1" dirty="0">
                <a:latin typeface="Lato" panose="020F0502020204030203" pitchFamily="34" charset="0"/>
                <a:ea typeface="Lato" panose="020F0502020204030203" pitchFamily="34" charset="0"/>
                <a:cs typeface="Lato" panose="020F0502020204030203" pitchFamily="34" charset="0"/>
              </a:rPr>
              <a:t>Xác định mức độ hài lòng và không hài lòng của công chúng</a:t>
            </a:r>
          </a:p>
          <a:p>
            <a:pPr marL="0" indent="0" fontAlgn="base">
              <a:buNone/>
            </a:pPr>
            <a:r>
              <a:rPr lang="vi-VN" sz="2200" b="1" dirty="0">
                <a:latin typeface="Lato" panose="020F0502020204030203" pitchFamily="34" charset="0"/>
                <a:ea typeface="Lato" panose="020F0502020204030203" pitchFamily="34" charset="0"/>
                <a:cs typeface="Lato" panose="020F0502020204030203" pitchFamily="34" charset="0"/>
              </a:rPr>
              <a:t>Dữ liệu thu thập được có thể xuất ra </a:t>
            </a:r>
            <a:r>
              <a:rPr lang="vi-VN" sz="2200" b="1" dirty="0" err="1">
                <a:latin typeface="Lato" panose="020F0502020204030203" pitchFamily="34" charset="0"/>
                <a:ea typeface="Lato" panose="020F0502020204030203" pitchFamily="34" charset="0"/>
                <a:cs typeface="Lato" panose="020F0502020204030203" pitchFamily="34" charset="0"/>
              </a:rPr>
              <a:t>file</a:t>
            </a:r>
            <a:r>
              <a:rPr lang="vi-VN" sz="2200" b="1" dirty="0">
                <a:latin typeface="Lato" panose="020F0502020204030203" pitchFamily="34" charset="0"/>
                <a:ea typeface="Lato" panose="020F0502020204030203" pitchFamily="34" charset="0"/>
                <a:cs typeface="Lato" panose="020F0502020204030203" pitchFamily="34" charset="0"/>
              </a:rPr>
              <a:t> </a:t>
            </a:r>
            <a:r>
              <a:rPr lang="vi-VN" sz="2200" b="1" dirty="0" err="1">
                <a:latin typeface="Lato" panose="020F0502020204030203" pitchFamily="34" charset="0"/>
                <a:ea typeface="Lato" panose="020F0502020204030203" pitchFamily="34" charset="0"/>
                <a:cs typeface="Lato" panose="020F0502020204030203" pitchFamily="34" charset="0"/>
              </a:rPr>
              <a:t>excel</a:t>
            </a:r>
            <a:r>
              <a:rPr lang="vi-VN" sz="2200" b="1" dirty="0">
                <a:latin typeface="Lato" panose="020F0502020204030203" pitchFamily="34" charset="0"/>
                <a:ea typeface="Lato" panose="020F0502020204030203" pitchFamily="34" charset="0"/>
                <a:cs typeface="Lato" panose="020F0502020204030203" pitchFamily="34" charset="0"/>
              </a:rPr>
              <a:t> để phân tích</a:t>
            </a:r>
            <a:r>
              <a:rPr lang="en-US" sz="2200" b="1" dirty="0">
                <a:latin typeface="Lato" panose="020F0502020204030203" pitchFamily="34" charset="0"/>
                <a:ea typeface="Lato" panose="020F0502020204030203" pitchFamily="34" charset="0"/>
                <a:cs typeface="Lato" panose="020F0502020204030203" pitchFamily="34" charset="0"/>
              </a:rPr>
              <a:t>, </a:t>
            </a:r>
            <a:r>
              <a:rPr lang="en-US" sz="2200" b="1" dirty="0" err="1">
                <a:latin typeface="Lato" panose="020F0502020204030203" pitchFamily="34" charset="0"/>
                <a:ea typeface="Lato" panose="020F0502020204030203" pitchFamily="34" charset="0"/>
                <a:cs typeface="Lato" panose="020F0502020204030203" pitchFamily="34" charset="0"/>
              </a:rPr>
              <a:t>tổng</a:t>
            </a:r>
            <a:r>
              <a:rPr lang="en-US" sz="2200" b="1" dirty="0">
                <a:latin typeface="Lato" panose="020F0502020204030203" pitchFamily="34" charset="0"/>
                <a:ea typeface="Lato" panose="020F0502020204030203" pitchFamily="34" charset="0"/>
                <a:cs typeface="Lato" panose="020F0502020204030203" pitchFamily="34" charset="0"/>
              </a:rPr>
              <a:t> </a:t>
            </a:r>
            <a:r>
              <a:rPr lang="en-US" sz="2200" b="1" dirty="0" err="1">
                <a:latin typeface="Lato" panose="020F0502020204030203" pitchFamily="34" charset="0"/>
                <a:ea typeface="Lato" panose="020F0502020204030203" pitchFamily="34" charset="0"/>
                <a:cs typeface="Lato" panose="020F0502020204030203" pitchFamily="34" charset="0"/>
              </a:rPr>
              <a:t>hợp</a:t>
            </a:r>
            <a:r>
              <a:rPr lang="vi-VN" sz="2200" b="1" dirty="0">
                <a:latin typeface="Lato" panose="020F0502020204030203" pitchFamily="34" charset="0"/>
                <a:ea typeface="Lato" panose="020F0502020204030203" pitchFamily="34" charset="0"/>
                <a:cs typeface="Lato" panose="020F0502020204030203" pitchFamily="34" charset="0"/>
              </a:rPr>
              <a:t> thêm</a:t>
            </a:r>
          </a:p>
          <a:p>
            <a:pPr marL="0" indent="0">
              <a:buNone/>
            </a:pPr>
            <a:endParaRPr lang="vi-VN" sz="2200" b="1" dirty="0">
              <a:latin typeface="Lato" panose="020F0502020204030203" pitchFamily="34" charset="0"/>
              <a:ea typeface="Lato" panose="020F0502020204030203" pitchFamily="34" charset="0"/>
              <a:cs typeface="Lato" panose="020F0502020204030203" pitchFamily="34" charset="0"/>
            </a:endParaRPr>
          </a:p>
        </p:txBody>
      </p:sp>
      <p:pic>
        <p:nvPicPr>
          <p:cNvPr id="6" name="Picture 5">
            <a:extLst>
              <a:ext uri="{FF2B5EF4-FFF2-40B4-BE49-F238E27FC236}">
                <a16:creationId xmlns:a16="http://schemas.microsoft.com/office/drawing/2014/main" id="{88ABE8FF-3DBD-D5E0-AB5D-005C69EB343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221464" y="3686323"/>
            <a:ext cx="4026936" cy="251683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324109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5">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p:tgtEl>
                                          <p:spTgt spid="5">
                                            <p:txEl>
                                              <p:pRg st="2" end="2"/>
                                            </p:txEl>
                                          </p:spTgt>
                                        </p:tgtEl>
                                        <p:attrNameLst>
                                          <p:attrName>ppt_y</p:attrName>
                                        </p:attrNameLst>
                                      </p:cBhvr>
                                      <p:tavLst>
                                        <p:tav tm="0">
                                          <p:val>
                                            <p:strVal val="#ppt_y+#ppt_h*1.125000"/>
                                          </p:val>
                                        </p:tav>
                                        <p:tav tm="100000">
                                          <p:val>
                                            <p:strVal val="#ppt_y"/>
                                          </p:val>
                                        </p:tav>
                                      </p:tavLst>
                                    </p:anim>
                                    <p:animEffect transition="in" filter="wipe(up)">
                                      <p:cBhvr>
                                        <p:cTn id="16" dur="500"/>
                                        <p:tgtEl>
                                          <p:spTgt spid="5">
                                            <p:txEl>
                                              <p:pRg st="2" end="2"/>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p:tgtEl>
                                          <p:spTgt spid="5">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5">
                                            <p:txEl>
                                              <p:pRg st="3" end="3"/>
                                            </p:txEl>
                                          </p:spTgt>
                                        </p:tgtEl>
                                      </p:cBhvr>
                                    </p:animEffect>
                                  </p:childTnLst>
                                </p:cTn>
                              </p:par>
                              <p:par>
                                <p:cTn id="21" presetID="12" presetClass="entr" presetSubtype="4"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p:tgtEl>
                                          <p:spTgt spid="5">
                                            <p:txEl>
                                              <p:pRg st="4" end="4"/>
                                            </p:txEl>
                                          </p:spTgt>
                                        </p:tgtEl>
                                        <p:attrNameLst>
                                          <p:attrName>ppt_y</p:attrName>
                                        </p:attrNameLst>
                                      </p:cBhvr>
                                      <p:tavLst>
                                        <p:tav tm="0">
                                          <p:val>
                                            <p:strVal val="#ppt_y+#ppt_h*1.125000"/>
                                          </p:val>
                                        </p:tav>
                                        <p:tav tm="100000">
                                          <p:val>
                                            <p:strVal val="#ppt_y"/>
                                          </p:val>
                                        </p:tav>
                                      </p:tavLst>
                                    </p:anim>
                                    <p:animEffect transition="in" filter="wipe(up)">
                                      <p:cBhvr>
                                        <p:cTn id="24" dur="500"/>
                                        <p:tgtEl>
                                          <p:spTgt spid="5">
                                            <p:txEl>
                                              <p:pRg st="4" end="4"/>
                                            </p:txEl>
                                          </p:spTgt>
                                        </p:tgtEl>
                                      </p:cBhvr>
                                    </p:animEffect>
                                  </p:childTnLst>
                                </p:cTn>
                              </p:par>
                              <p:par>
                                <p:cTn id="25" presetID="12" presetClass="entr" presetSubtype="4"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 calcmode="lin" valueType="num">
                                      <p:cBhvr additive="base">
                                        <p:cTn id="27" dur="500"/>
                                        <p:tgtEl>
                                          <p:spTgt spid="5">
                                            <p:txEl>
                                              <p:pRg st="5" end="5"/>
                                            </p:txEl>
                                          </p:spTgt>
                                        </p:tgtEl>
                                        <p:attrNameLst>
                                          <p:attrName>ppt_y</p:attrName>
                                        </p:attrNameLst>
                                      </p:cBhvr>
                                      <p:tavLst>
                                        <p:tav tm="0">
                                          <p:val>
                                            <p:strVal val="#ppt_y+#ppt_h*1.125000"/>
                                          </p:val>
                                        </p:tav>
                                        <p:tav tm="100000">
                                          <p:val>
                                            <p:strVal val="#ppt_y"/>
                                          </p:val>
                                        </p:tav>
                                      </p:tavLst>
                                    </p:anim>
                                    <p:animEffect transition="in" filter="wipe(up)">
                                      <p:cBhvr>
                                        <p:cTn id="28" dur="500"/>
                                        <p:tgtEl>
                                          <p:spTgt spid="5">
                                            <p:txEl>
                                              <p:pRg st="5" end="5"/>
                                            </p:txEl>
                                          </p:spTgt>
                                        </p:tgtEl>
                                      </p:cBhvr>
                                    </p:animEffect>
                                  </p:childTnLst>
                                </p:cTn>
                              </p:par>
                              <p:par>
                                <p:cTn id="29" presetID="12" presetClass="entr" presetSubtype="4" fill="hold"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 calcmode="lin" valueType="num">
                                      <p:cBhvr additive="base">
                                        <p:cTn id="31" dur="500"/>
                                        <p:tgtEl>
                                          <p:spTgt spid="5">
                                            <p:txEl>
                                              <p:pRg st="6" end="6"/>
                                            </p:txEl>
                                          </p:spTgt>
                                        </p:tgtEl>
                                        <p:attrNameLst>
                                          <p:attrName>ppt_y</p:attrName>
                                        </p:attrNameLst>
                                      </p:cBhvr>
                                      <p:tavLst>
                                        <p:tav tm="0">
                                          <p:val>
                                            <p:strVal val="#ppt_y+#ppt_h*1.125000"/>
                                          </p:val>
                                        </p:tav>
                                        <p:tav tm="100000">
                                          <p:val>
                                            <p:strVal val="#ppt_y"/>
                                          </p:val>
                                        </p:tav>
                                      </p:tavLst>
                                    </p:anim>
                                    <p:animEffect transition="in" filter="wipe(up)">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D95C1-50C6-665D-DE08-34C5EF09D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01FE62-D93D-8CB4-015A-39C3257A757B}"/>
              </a:ext>
            </a:extLst>
          </p:cNvPr>
          <p:cNvSpPr>
            <a:spLocks noGrp="1"/>
          </p:cNvSpPr>
          <p:nvPr>
            <p:ph type="title"/>
          </p:nvPr>
        </p:nvSpPr>
        <p:spPr>
          <a:xfrm>
            <a:off x="784255" y="2539706"/>
            <a:ext cx="7575490" cy="2127504"/>
          </a:xfrm>
        </p:spPr>
        <p:txBody>
          <a:bodyPr/>
          <a:lstStyle/>
          <a:p>
            <a:r>
              <a:rPr lang="en-US" sz="5400" dirty="0"/>
              <a:t>2. </a:t>
            </a:r>
            <a:r>
              <a:rPr lang="en-US" sz="5400" dirty="0" err="1"/>
              <a:t>Biểu</a:t>
            </a:r>
            <a:r>
              <a:rPr lang="en-US" sz="5400" dirty="0"/>
              <a:t> </a:t>
            </a:r>
            <a:r>
              <a:rPr lang="en-US" sz="5400" dirty="0" err="1"/>
              <a:t>đồ</a:t>
            </a:r>
            <a:r>
              <a:rPr lang="en-US" sz="5400" dirty="0"/>
              <a:t> </a:t>
            </a:r>
            <a:r>
              <a:rPr lang="en-US" sz="5400"/>
              <a:t>UML - </a:t>
            </a:r>
            <a:r>
              <a:rPr lang="en-US" sz="5400" dirty="0" err="1"/>
              <a:t>Thiết</a:t>
            </a:r>
            <a:r>
              <a:rPr lang="en-US" sz="5400" dirty="0"/>
              <a:t> </a:t>
            </a:r>
            <a:r>
              <a:rPr lang="en-US" sz="5400" dirty="0" err="1"/>
              <a:t>kế</a:t>
            </a:r>
            <a:r>
              <a:rPr lang="en-US" sz="5400" dirty="0"/>
              <a:t> </a:t>
            </a:r>
            <a:r>
              <a:rPr lang="en-US" sz="5400" dirty="0" err="1"/>
              <a:t>hệ</a:t>
            </a:r>
            <a:r>
              <a:rPr lang="en-US" sz="5400" dirty="0"/>
              <a:t> </a:t>
            </a:r>
            <a:r>
              <a:rPr lang="en-US" sz="5400" dirty="0" err="1"/>
              <a:t>thống</a:t>
            </a:r>
            <a:endParaRPr lang="en-US" sz="5400" dirty="0"/>
          </a:p>
        </p:txBody>
      </p:sp>
    </p:spTree>
    <p:extLst>
      <p:ext uri="{BB962C8B-B14F-4D97-AF65-F5344CB8AC3E}">
        <p14:creationId xmlns:p14="http://schemas.microsoft.com/office/powerpoint/2010/main" val="153096082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E207-A869-B342-B6D9-77005A268D98}"/>
              </a:ext>
            </a:extLst>
          </p:cNvPr>
          <p:cNvSpPr>
            <a:spLocks noGrp="1"/>
          </p:cNvSpPr>
          <p:nvPr>
            <p:ph type="title"/>
          </p:nvPr>
        </p:nvSpPr>
        <p:spPr/>
        <p:txBody>
          <a:bodyPr/>
          <a:lstStyle/>
          <a:p>
            <a:r>
              <a:rPr lang="en-US"/>
              <a:t>2.1. Biểu đồ phụ thuộc gói</a:t>
            </a:r>
            <a:endParaRPr lang="en-US" dirty="0"/>
          </a:p>
        </p:txBody>
      </p:sp>
      <p:sp>
        <p:nvSpPr>
          <p:cNvPr id="5" name="Slide Number Placeholder 4">
            <a:extLst>
              <a:ext uri="{FF2B5EF4-FFF2-40B4-BE49-F238E27FC236}">
                <a16:creationId xmlns:a16="http://schemas.microsoft.com/office/drawing/2014/main" id="{853CF161-A6C1-F8C7-C9A5-5CD5BD5C176E}"/>
              </a:ext>
            </a:extLst>
          </p:cNvPr>
          <p:cNvSpPr>
            <a:spLocks noGrp="1"/>
          </p:cNvSpPr>
          <p:nvPr>
            <p:ph type="sldNum" sz="quarter" idx="12"/>
          </p:nvPr>
        </p:nvSpPr>
        <p:spPr/>
        <p:txBody>
          <a:bodyPr/>
          <a:lstStyle/>
          <a:p>
            <a:fld id="{9EA0BE3B-158A-4EDF-80DC-E394A0D1600F}" type="slidenum">
              <a:rPr lang="en-US" smtClean="0"/>
              <a:pPr/>
              <a:t>7</a:t>
            </a:fld>
            <a:endParaRPr lang="en-US" dirty="0"/>
          </a:p>
        </p:txBody>
      </p:sp>
      <p:pic>
        <p:nvPicPr>
          <p:cNvPr id="3" name="Picture 2">
            <a:extLst>
              <a:ext uri="{FF2B5EF4-FFF2-40B4-BE49-F238E27FC236}">
                <a16:creationId xmlns:a16="http://schemas.microsoft.com/office/drawing/2014/main" id="{E7094DBE-80B1-E66C-2F33-7ECA01A27E43}"/>
              </a:ext>
            </a:extLst>
          </p:cNvPr>
          <p:cNvPicPr>
            <a:picLocks noChangeAspect="1"/>
          </p:cNvPicPr>
          <p:nvPr/>
        </p:nvPicPr>
        <p:blipFill>
          <a:blip r:embed="rId2"/>
          <a:stretch>
            <a:fillRect/>
          </a:stretch>
        </p:blipFill>
        <p:spPr>
          <a:xfrm>
            <a:off x="109608" y="805030"/>
            <a:ext cx="8924783" cy="5416848"/>
          </a:xfrm>
          <a:prstGeom prst="rect">
            <a:avLst/>
          </a:prstGeom>
        </p:spPr>
      </p:pic>
    </p:spTree>
    <p:extLst>
      <p:ext uri="{BB962C8B-B14F-4D97-AF65-F5344CB8AC3E}">
        <p14:creationId xmlns:p14="http://schemas.microsoft.com/office/powerpoint/2010/main" val="3651498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54BCA-A6BE-EA64-4E3A-E87663F3ECBA}"/>
              </a:ext>
            </a:extLst>
          </p:cNvPr>
          <p:cNvSpPr>
            <a:spLocks noGrp="1"/>
          </p:cNvSpPr>
          <p:nvPr>
            <p:ph type="title"/>
          </p:nvPr>
        </p:nvSpPr>
        <p:spPr/>
        <p:txBody>
          <a:bodyPr/>
          <a:lstStyle/>
          <a:p>
            <a:r>
              <a:rPr lang="en-US"/>
              <a:t>2.2. Biểu đồ gói model</a:t>
            </a:r>
          </a:p>
        </p:txBody>
      </p:sp>
      <p:sp>
        <p:nvSpPr>
          <p:cNvPr id="5" name="Slide Number Placeholder 4">
            <a:extLst>
              <a:ext uri="{FF2B5EF4-FFF2-40B4-BE49-F238E27FC236}">
                <a16:creationId xmlns:a16="http://schemas.microsoft.com/office/drawing/2014/main" id="{14A7A4F6-308F-89DB-75EE-B43EE7B37B19}"/>
              </a:ext>
            </a:extLst>
          </p:cNvPr>
          <p:cNvSpPr>
            <a:spLocks noGrp="1"/>
          </p:cNvSpPr>
          <p:nvPr>
            <p:ph type="sldNum" sz="quarter" idx="12"/>
          </p:nvPr>
        </p:nvSpPr>
        <p:spPr/>
        <p:txBody>
          <a:bodyPr/>
          <a:lstStyle/>
          <a:p>
            <a:fld id="{9EA0BE3B-158A-4EDF-80DC-E394A0D1600F}" type="slidenum">
              <a:rPr lang="en-US" smtClean="0"/>
              <a:pPr/>
              <a:t>8</a:t>
            </a:fld>
            <a:endParaRPr lang="en-US" dirty="0"/>
          </a:p>
        </p:txBody>
      </p:sp>
      <p:pic>
        <p:nvPicPr>
          <p:cNvPr id="6" name="Picture 5">
            <a:extLst>
              <a:ext uri="{FF2B5EF4-FFF2-40B4-BE49-F238E27FC236}">
                <a16:creationId xmlns:a16="http://schemas.microsoft.com/office/drawing/2014/main" id="{0ED77019-90BB-7262-2DA5-5D098531E4A1}"/>
              </a:ext>
            </a:extLst>
          </p:cNvPr>
          <p:cNvPicPr>
            <a:picLocks noChangeAspect="1"/>
          </p:cNvPicPr>
          <p:nvPr/>
        </p:nvPicPr>
        <p:blipFill>
          <a:blip r:embed="rId2"/>
          <a:stretch>
            <a:fillRect/>
          </a:stretch>
        </p:blipFill>
        <p:spPr>
          <a:xfrm>
            <a:off x="89433" y="961053"/>
            <a:ext cx="8985283" cy="5094514"/>
          </a:xfrm>
          <a:prstGeom prst="rect">
            <a:avLst/>
          </a:prstGeom>
        </p:spPr>
      </p:pic>
    </p:spTree>
    <p:extLst>
      <p:ext uri="{BB962C8B-B14F-4D97-AF65-F5344CB8AC3E}">
        <p14:creationId xmlns:p14="http://schemas.microsoft.com/office/powerpoint/2010/main" val="3103003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9BA17-9AD2-0824-6D8E-FF366E1C2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E147A-0594-AC78-4D33-76E73101EA92}"/>
              </a:ext>
            </a:extLst>
          </p:cNvPr>
          <p:cNvSpPr>
            <a:spLocks noGrp="1"/>
          </p:cNvSpPr>
          <p:nvPr>
            <p:ph type="title"/>
          </p:nvPr>
        </p:nvSpPr>
        <p:spPr/>
        <p:txBody>
          <a:bodyPr/>
          <a:lstStyle/>
          <a:p>
            <a:r>
              <a:rPr lang="en-US"/>
              <a:t>2.3. </a:t>
            </a:r>
            <a:r>
              <a:rPr lang="en-US" dirty="0" err="1"/>
              <a:t>Biểu</a:t>
            </a:r>
            <a:r>
              <a:rPr lang="en-US" dirty="0"/>
              <a:t> </a:t>
            </a:r>
            <a:r>
              <a:rPr lang="en-US" err="1"/>
              <a:t>đồ</a:t>
            </a:r>
            <a:r>
              <a:rPr lang="en-US"/>
              <a:t> gói data</a:t>
            </a:r>
            <a:endParaRPr lang="en-US" dirty="0"/>
          </a:p>
        </p:txBody>
      </p:sp>
      <p:sp>
        <p:nvSpPr>
          <p:cNvPr id="5" name="Slide Number Placeholder 4">
            <a:extLst>
              <a:ext uri="{FF2B5EF4-FFF2-40B4-BE49-F238E27FC236}">
                <a16:creationId xmlns:a16="http://schemas.microsoft.com/office/drawing/2014/main" id="{4863E864-9322-3E7E-261E-B6BBF2105C31}"/>
              </a:ext>
            </a:extLst>
          </p:cNvPr>
          <p:cNvSpPr>
            <a:spLocks noGrp="1"/>
          </p:cNvSpPr>
          <p:nvPr>
            <p:ph type="sldNum" sz="quarter" idx="12"/>
          </p:nvPr>
        </p:nvSpPr>
        <p:spPr/>
        <p:txBody>
          <a:bodyPr/>
          <a:lstStyle/>
          <a:p>
            <a:fld id="{9EA0BE3B-158A-4EDF-80DC-E394A0D1600F}" type="slidenum">
              <a:rPr lang="en-US" smtClean="0"/>
              <a:pPr/>
              <a:t>9</a:t>
            </a:fld>
            <a:endParaRPr lang="en-US" dirty="0"/>
          </a:p>
        </p:txBody>
      </p:sp>
      <p:pic>
        <p:nvPicPr>
          <p:cNvPr id="4" name="Picture 3">
            <a:extLst>
              <a:ext uri="{FF2B5EF4-FFF2-40B4-BE49-F238E27FC236}">
                <a16:creationId xmlns:a16="http://schemas.microsoft.com/office/drawing/2014/main" id="{1272F800-88C9-7D63-5134-6F21C13009B7}"/>
              </a:ext>
            </a:extLst>
          </p:cNvPr>
          <p:cNvPicPr>
            <a:picLocks noChangeAspect="1"/>
          </p:cNvPicPr>
          <p:nvPr/>
        </p:nvPicPr>
        <p:blipFill>
          <a:blip r:embed="rId2"/>
          <a:stretch>
            <a:fillRect/>
          </a:stretch>
        </p:blipFill>
        <p:spPr>
          <a:xfrm>
            <a:off x="1231639" y="833854"/>
            <a:ext cx="7837715" cy="5585607"/>
          </a:xfrm>
          <a:prstGeom prst="rect">
            <a:avLst/>
          </a:prstGeom>
        </p:spPr>
      </p:pic>
    </p:spTree>
    <p:extLst>
      <p:ext uri="{BB962C8B-B14F-4D97-AF65-F5344CB8AC3E}">
        <p14:creationId xmlns:p14="http://schemas.microsoft.com/office/powerpoint/2010/main" val="3527666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E750D-23ED-7F58-E1BD-7FD74421A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2AB6D-5814-FEA8-52B5-3DF65BEAE018}"/>
              </a:ext>
            </a:extLst>
          </p:cNvPr>
          <p:cNvSpPr>
            <a:spLocks noGrp="1"/>
          </p:cNvSpPr>
          <p:nvPr>
            <p:ph type="title"/>
          </p:nvPr>
        </p:nvSpPr>
        <p:spPr/>
        <p:txBody>
          <a:bodyPr/>
          <a:lstStyle/>
          <a:p>
            <a:r>
              <a:rPr lang="en-US"/>
              <a:t>2.4. Biểu đồ gói preprocessor</a:t>
            </a:r>
            <a:endParaRPr lang="en-US" dirty="0"/>
          </a:p>
        </p:txBody>
      </p:sp>
      <p:sp>
        <p:nvSpPr>
          <p:cNvPr id="5" name="Slide Number Placeholder 4">
            <a:extLst>
              <a:ext uri="{FF2B5EF4-FFF2-40B4-BE49-F238E27FC236}">
                <a16:creationId xmlns:a16="http://schemas.microsoft.com/office/drawing/2014/main" id="{5985D7D6-8112-EF46-32CC-C7D472BCF425}"/>
              </a:ext>
            </a:extLst>
          </p:cNvPr>
          <p:cNvSpPr>
            <a:spLocks noGrp="1"/>
          </p:cNvSpPr>
          <p:nvPr>
            <p:ph type="sldNum" sz="quarter" idx="12"/>
          </p:nvPr>
        </p:nvSpPr>
        <p:spPr/>
        <p:txBody>
          <a:bodyPr/>
          <a:lstStyle/>
          <a:p>
            <a:fld id="{9EA0BE3B-158A-4EDF-80DC-E394A0D1600F}" type="slidenum">
              <a:rPr lang="en-US" smtClean="0"/>
              <a:pPr/>
              <a:t>10</a:t>
            </a:fld>
            <a:endParaRPr lang="en-US" dirty="0"/>
          </a:p>
        </p:txBody>
      </p:sp>
      <p:pic>
        <p:nvPicPr>
          <p:cNvPr id="7" name="Picture 6">
            <a:extLst>
              <a:ext uri="{FF2B5EF4-FFF2-40B4-BE49-F238E27FC236}">
                <a16:creationId xmlns:a16="http://schemas.microsoft.com/office/drawing/2014/main" id="{7A4ED2C9-1012-72EE-4718-1B32D3EFB639}"/>
              </a:ext>
            </a:extLst>
          </p:cNvPr>
          <p:cNvPicPr>
            <a:picLocks noChangeAspect="1"/>
          </p:cNvPicPr>
          <p:nvPr/>
        </p:nvPicPr>
        <p:blipFill>
          <a:blip r:embed="rId2"/>
          <a:stretch>
            <a:fillRect/>
          </a:stretch>
        </p:blipFill>
        <p:spPr>
          <a:xfrm>
            <a:off x="235077" y="989046"/>
            <a:ext cx="8735510" cy="5047860"/>
          </a:xfrm>
          <a:prstGeom prst="rect">
            <a:avLst/>
          </a:prstGeom>
        </p:spPr>
      </p:pic>
    </p:spTree>
    <p:extLst>
      <p:ext uri="{BB962C8B-B14F-4D97-AF65-F5344CB8AC3E}">
        <p14:creationId xmlns:p14="http://schemas.microsoft.com/office/powerpoint/2010/main" val="2125448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306D9-B346-38EC-635C-7D686EA08A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7CA9A-BEED-E0A9-BCB7-32C13C28C9B6}"/>
              </a:ext>
            </a:extLst>
          </p:cNvPr>
          <p:cNvSpPr>
            <a:spLocks noGrp="1"/>
          </p:cNvSpPr>
          <p:nvPr>
            <p:ph type="title"/>
          </p:nvPr>
        </p:nvSpPr>
        <p:spPr/>
        <p:txBody>
          <a:bodyPr/>
          <a:lstStyle/>
          <a:p>
            <a:r>
              <a:rPr lang="en-US"/>
              <a:t>2.5. Biểu đồ gói analysis</a:t>
            </a:r>
            <a:endParaRPr lang="en-US" dirty="0"/>
          </a:p>
        </p:txBody>
      </p:sp>
      <p:sp>
        <p:nvSpPr>
          <p:cNvPr id="5" name="Slide Number Placeholder 4">
            <a:extLst>
              <a:ext uri="{FF2B5EF4-FFF2-40B4-BE49-F238E27FC236}">
                <a16:creationId xmlns:a16="http://schemas.microsoft.com/office/drawing/2014/main" id="{2C57B08B-4253-32CF-CC19-8FA47B0A82D0}"/>
              </a:ext>
            </a:extLst>
          </p:cNvPr>
          <p:cNvSpPr>
            <a:spLocks noGrp="1"/>
          </p:cNvSpPr>
          <p:nvPr>
            <p:ph type="sldNum" sz="quarter" idx="12"/>
          </p:nvPr>
        </p:nvSpPr>
        <p:spPr/>
        <p:txBody>
          <a:bodyPr/>
          <a:lstStyle/>
          <a:p>
            <a:fld id="{9EA0BE3B-158A-4EDF-80DC-E394A0D1600F}" type="slidenum">
              <a:rPr lang="en-US" smtClean="0"/>
              <a:pPr/>
              <a:t>11</a:t>
            </a:fld>
            <a:endParaRPr lang="en-US" dirty="0"/>
          </a:p>
        </p:txBody>
      </p:sp>
      <p:pic>
        <p:nvPicPr>
          <p:cNvPr id="4" name="Picture 3">
            <a:extLst>
              <a:ext uri="{FF2B5EF4-FFF2-40B4-BE49-F238E27FC236}">
                <a16:creationId xmlns:a16="http://schemas.microsoft.com/office/drawing/2014/main" id="{95465970-E4FF-524A-0E7E-71D755DED3A1}"/>
              </a:ext>
            </a:extLst>
          </p:cNvPr>
          <p:cNvPicPr>
            <a:picLocks noChangeAspect="1"/>
          </p:cNvPicPr>
          <p:nvPr/>
        </p:nvPicPr>
        <p:blipFill>
          <a:blip r:embed="rId2"/>
          <a:stretch>
            <a:fillRect/>
          </a:stretch>
        </p:blipFill>
        <p:spPr>
          <a:xfrm>
            <a:off x="0" y="960307"/>
            <a:ext cx="9064690" cy="5123252"/>
          </a:xfrm>
          <a:prstGeom prst="rect">
            <a:avLst/>
          </a:prstGeom>
        </p:spPr>
      </p:pic>
    </p:spTree>
    <p:extLst>
      <p:ext uri="{BB962C8B-B14F-4D97-AF65-F5344CB8AC3E}">
        <p14:creationId xmlns:p14="http://schemas.microsoft.com/office/powerpoint/2010/main" val="1749301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E801E-8F70-725C-8AC3-79541A8F2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3FFAA-0273-84D4-AC08-308E16C345F2}"/>
              </a:ext>
            </a:extLst>
          </p:cNvPr>
          <p:cNvSpPr>
            <a:spLocks noGrp="1"/>
          </p:cNvSpPr>
          <p:nvPr>
            <p:ph type="title"/>
          </p:nvPr>
        </p:nvSpPr>
        <p:spPr/>
        <p:txBody>
          <a:bodyPr/>
          <a:lstStyle/>
          <a:p>
            <a:r>
              <a:rPr lang="en-US"/>
              <a:t>2.6. Biểu đồ gói app</a:t>
            </a:r>
            <a:endParaRPr lang="en-US" dirty="0"/>
          </a:p>
        </p:txBody>
      </p:sp>
      <p:sp>
        <p:nvSpPr>
          <p:cNvPr id="5" name="Slide Number Placeholder 4">
            <a:extLst>
              <a:ext uri="{FF2B5EF4-FFF2-40B4-BE49-F238E27FC236}">
                <a16:creationId xmlns:a16="http://schemas.microsoft.com/office/drawing/2014/main" id="{71712B26-B9F8-871F-0453-62505CD4716D}"/>
              </a:ext>
            </a:extLst>
          </p:cNvPr>
          <p:cNvSpPr>
            <a:spLocks noGrp="1"/>
          </p:cNvSpPr>
          <p:nvPr>
            <p:ph type="sldNum" sz="quarter" idx="12"/>
          </p:nvPr>
        </p:nvSpPr>
        <p:spPr/>
        <p:txBody>
          <a:bodyPr/>
          <a:lstStyle/>
          <a:p>
            <a:fld id="{9EA0BE3B-158A-4EDF-80DC-E394A0D1600F}" type="slidenum">
              <a:rPr lang="en-US" smtClean="0"/>
              <a:pPr/>
              <a:t>12</a:t>
            </a:fld>
            <a:endParaRPr lang="en-US" dirty="0"/>
          </a:p>
        </p:txBody>
      </p:sp>
      <p:pic>
        <p:nvPicPr>
          <p:cNvPr id="6" name="Picture 5">
            <a:extLst>
              <a:ext uri="{FF2B5EF4-FFF2-40B4-BE49-F238E27FC236}">
                <a16:creationId xmlns:a16="http://schemas.microsoft.com/office/drawing/2014/main" id="{CBB6F782-A885-D9AB-0884-B5147D8935B9}"/>
              </a:ext>
            </a:extLst>
          </p:cNvPr>
          <p:cNvPicPr>
            <a:picLocks noChangeAspect="1"/>
          </p:cNvPicPr>
          <p:nvPr/>
        </p:nvPicPr>
        <p:blipFill>
          <a:blip r:embed="rId2"/>
          <a:stretch>
            <a:fillRect/>
          </a:stretch>
        </p:blipFill>
        <p:spPr>
          <a:xfrm>
            <a:off x="74645" y="953053"/>
            <a:ext cx="8966718" cy="5195820"/>
          </a:xfrm>
          <a:prstGeom prst="rect">
            <a:avLst/>
          </a:prstGeom>
        </p:spPr>
      </p:pic>
    </p:spTree>
    <p:extLst>
      <p:ext uri="{BB962C8B-B14F-4D97-AF65-F5344CB8AC3E}">
        <p14:creationId xmlns:p14="http://schemas.microsoft.com/office/powerpoint/2010/main" val="2558925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1FA12-0B6C-6FB1-AD39-5F404FF35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B6006B-7192-6DA6-4BDF-C6D4C3A84B0C}"/>
              </a:ext>
            </a:extLst>
          </p:cNvPr>
          <p:cNvSpPr>
            <a:spLocks noGrp="1"/>
          </p:cNvSpPr>
          <p:nvPr>
            <p:ph type="title"/>
          </p:nvPr>
        </p:nvSpPr>
        <p:spPr/>
        <p:txBody>
          <a:bodyPr/>
          <a:lstStyle/>
          <a:p>
            <a:r>
              <a:rPr lang="en-US"/>
              <a:t>2.7. Biểu đồ gói service </a:t>
            </a:r>
            <a:endParaRPr lang="en-US" dirty="0"/>
          </a:p>
        </p:txBody>
      </p:sp>
      <p:sp>
        <p:nvSpPr>
          <p:cNvPr id="5" name="Slide Number Placeholder 4">
            <a:extLst>
              <a:ext uri="{FF2B5EF4-FFF2-40B4-BE49-F238E27FC236}">
                <a16:creationId xmlns:a16="http://schemas.microsoft.com/office/drawing/2014/main" id="{49F2CC95-CD79-7B35-5616-ED9A859108F8}"/>
              </a:ext>
            </a:extLst>
          </p:cNvPr>
          <p:cNvSpPr>
            <a:spLocks noGrp="1"/>
          </p:cNvSpPr>
          <p:nvPr>
            <p:ph type="sldNum" sz="quarter" idx="12"/>
          </p:nvPr>
        </p:nvSpPr>
        <p:spPr/>
        <p:txBody>
          <a:bodyPr/>
          <a:lstStyle/>
          <a:p>
            <a:fld id="{9EA0BE3B-158A-4EDF-80DC-E394A0D1600F}" type="slidenum">
              <a:rPr lang="en-US" smtClean="0"/>
              <a:pPr/>
              <a:t>13</a:t>
            </a:fld>
            <a:endParaRPr lang="en-US" dirty="0"/>
          </a:p>
        </p:txBody>
      </p:sp>
      <p:pic>
        <p:nvPicPr>
          <p:cNvPr id="3" name="Picture 2">
            <a:extLst>
              <a:ext uri="{FF2B5EF4-FFF2-40B4-BE49-F238E27FC236}">
                <a16:creationId xmlns:a16="http://schemas.microsoft.com/office/drawing/2014/main" id="{F14A6C62-DD9F-A981-7A71-2DFC966CC0A6}"/>
              </a:ext>
            </a:extLst>
          </p:cNvPr>
          <p:cNvPicPr>
            <a:picLocks noChangeAspect="1"/>
          </p:cNvPicPr>
          <p:nvPr/>
        </p:nvPicPr>
        <p:blipFill>
          <a:blip r:embed="rId2"/>
          <a:stretch>
            <a:fillRect/>
          </a:stretch>
        </p:blipFill>
        <p:spPr>
          <a:xfrm>
            <a:off x="1231641" y="889497"/>
            <a:ext cx="6811347" cy="5323483"/>
          </a:xfrm>
          <a:prstGeom prst="rect">
            <a:avLst/>
          </a:prstGeom>
        </p:spPr>
      </p:pic>
    </p:spTree>
    <p:extLst>
      <p:ext uri="{BB962C8B-B14F-4D97-AF65-F5344CB8AC3E}">
        <p14:creationId xmlns:p14="http://schemas.microsoft.com/office/powerpoint/2010/main" val="3726825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18B89-6640-8755-CEED-ADBF44948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8646A-6416-F827-A4F6-CEF044AE8B13}"/>
              </a:ext>
            </a:extLst>
          </p:cNvPr>
          <p:cNvSpPr>
            <a:spLocks noGrp="1"/>
          </p:cNvSpPr>
          <p:nvPr>
            <p:ph type="title"/>
          </p:nvPr>
        </p:nvSpPr>
        <p:spPr/>
        <p:txBody>
          <a:bodyPr/>
          <a:lstStyle/>
          <a:p>
            <a:r>
              <a:rPr lang="en-US"/>
              <a:t>2.8. Biểu đồ gói ui</a:t>
            </a:r>
            <a:endParaRPr lang="en-US" dirty="0"/>
          </a:p>
        </p:txBody>
      </p:sp>
      <p:sp>
        <p:nvSpPr>
          <p:cNvPr id="5" name="Slide Number Placeholder 4">
            <a:extLst>
              <a:ext uri="{FF2B5EF4-FFF2-40B4-BE49-F238E27FC236}">
                <a16:creationId xmlns:a16="http://schemas.microsoft.com/office/drawing/2014/main" id="{D0B8D2C1-630D-BF7D-EB0D-7CE920465637}"/>
              </a:ext>
            </a:extLst>
          </p:cNvPr>
          <p:cNvSpPr>
            <a:spLocks noGrp="1"/>
          </p:cNvSpPr>
          <p:nvPr>
            <p:ph type="sldNum" sz="quarter" idx="12"/>
          </p:nvPr>
        </p:nvSpPr>
        <p:spPr/>
        <p:txBody>
          <a:bodyPr/>
          <a:lstStyle/>
          <a:p>
            <a:fld id="{9EA0BE3B-158A-4EDF-80DC-E394A0D1600F}" type="slidenum">
              <a:rPr lang="en-US" smtClean="0"/>
              <a:pPr/>
              <a:t>14</a:t>
            </a:fld>
            <a:endParaRPr lang="en-US" dirty="0"/>
          </a:p>
        </p:txBody>
      </p:sp>
      <p:pic>
        <p:nvPicPr>
          <p:cNvPr id="6" name="Picture 5">
            <a:extLst>
              <a:ext uri="{FF2B5EF4-FFF2-40B4-BE49-F238E27FC236}">
                <a16:creationId xmlns:a16="http://schemas.microsoft.com/office/drawing/2014/main" id="{E532968B-01A3-7EC1-A4CF-AFACD5E03385}"/>
              </a:ext>
            </a:extLst>
          </p:cNvPr>
          <p:cNvPicPr>
            <a:picLocks noChangeAspect="1"/>
          </p:cNvPicPr>
          <p:nvPr/>
        </p:nvPicPr>
        <p:blipFill>
          <a:blip r:embed="rId2"/>
          <a:stretch>
            <a:fillRect/>
          </a:stretch>
        </p:blipFill>
        <p:spPr>
          <a:xfrm>
            <a:off x="235077" y="738092"/>
            <a:ext cx="8771765" cy="5381815"/>
          </a:xfrm>
          <a:prstGeom prst="rect">
            <a:avLst/>
          </a:prstGeom>
        </p:spPr>
      </p:pic>
    </p:spTree>
    <p:extLst>
      <p:ext uri="{BB962C8B-B14F-4D97-AF65-F5344CB8AC3E}">
        <p14:creationId xmlns:p14="http://schemas.microsoft.com/office/powerpoint/2010/main" val="2372176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62F59-AA94-F4F7-B9CD-46FA17A32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DFE98-57A6-100A-0547-EBDF147FEBB5}"/>
              </a:ext>
            </a:extLst>
          </p:cNvPr>
          <p:cNvSpPr>
            <a:spLocks noGrp="1"/>
          </p:cNvSpPr>
          <p:nvPr>
            <p:ph type="title"/>
          </p:nvPr>
        </p:nvSpPr>
        <p:spPr/>
        <p:txBody>
          <a:bodyPr/>
          <a:lstStyle/>
          <a:p>
            <a:r>
              <a:rPr lang="en-US"/>
              <a:t>2.9. Biểu đồ gói exception</a:t>
            </a:r>
            <a:endParaRPr lang="en-US" dirty="0"/>
          </a:p>
        </p:txBody>
      </p:sp>
      <p:sp>
        <p:nvSpPr>
          <p:cNvPr id="5" name="Slide Number Placeholder 4">
            <a:extLst>
              <a:ext uri="{FF2B5EF4-FFF2-40B4-BE49-F238E27FC236}">
                <a16:creationId xmlns:a16="http://schemas.microsoft.com/office/drawing/2014/main" id="{D682DE72-21D8-6F8C-53C3-228AD3F91859}"/>
              </a:ext>
            </a:extLst>
          </p:cNvPr>
          <p:cNvSpPr>
            <a:spLocks noGrp="1"/>
          </p:cNvSpPr>
          <p:nvPr>
            <p:ph type="sldNum" sz="quarter" idx="12"/>
          </p:nvPr>
        </p:nvSpPr>
        <p:spPr/>
        <p:txBody>
          <a:bodyPr/>
          <a:lstStyle/>
          <a:p>
            <a:fld id="{9EA0BE3B-158A-4EDF-80DC-E394A0D1600F}" type="slidenum">
              <a:rPr lang="en-US" smtClean="0"/>
              <a:pPr/>
              <a:t>15</a:t>
            </a:fld>
            <a:endParaRPr lang="en-US" dirty="0"/>
          </a:p>
        </p:txBody>
      </p:sp>
      <p:pic>
        <p:nvPicPr>
          <p:cNvPr id="6" name="Picture 5">
            <a:extLst>
              <a:ext uri="{FF2B5EF4-FFF2-40B4-BE49-F238E27FC236}">
                <a16:creationId xmlns:a16="http://schemas.microsoft.com/office/drawing/2014/main" id="{8E34DDA0-6A07-E802-30D7-5BF18EFC7EC8}"/>
              </a:ext>
            </a:extLst>
          </p:cNvPr>
          <p:cNvPicPr>
            <a:picLocks noChangeAspect="1"/>
          </p:cNvPicPr>
          <p:nvPr/>
        </p:nvPicPr>
        <p:blipFill>
          <a:blip r:embed="rId2"/>
          <a:stretch>
            <a:fillRect/>
          </a:stretch>
        </p:blipFill>
        <p:spPr>
          <a:xfrm>
            <a:off x="0" y="923731"/>
            <a:ext cx="9144000" cy="5169159"/>
          </a:xfrm>
          <a:prstGeom prst="rect">
            <a:avLst/>
          </a:prstGeom>
        </p:spPr>
      </p:pic>
    </p:spTree>
    <p:extLst>
      <p:ext uri="{BB962C8B-B14F-4D97-AF65-F5344CB8AC3E}">
        <p14:creationId xmlns:p14="http://schemas.microsoft.com/office/powerpoint/2010/main" val="256572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7A2B-E044-5A2D-E8BF-E55569F2D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CF967-BA98-63D7-C22D-BFD7CFE6D539}"/>
              </a:ext>
            </a:extLst>
          </p:cNvPr>
          <p:cNvSpPr>
            <a:spLocks noGrp="1"/>
          </p:cNvSpPr>
          <p:nvPr>
            <p:ph type="title"/>
          </p:nvPr>
        </p:nvSpPr>
        <p:spPr>
          <a:xfrm>
            <a:off x="696023" y="2365248"/>
            <a:ext cx="7751953" cy="2127504"/>
          </a:xfrm>
        </p:spPr>
        <p:txBody>
          <a:bodyPr/>
          <a:lstStyle/>
          <a:p>
            <a:r>
              <a:rPr lang="en-US" sz="5400" dirty="0"/>
              <a:t>3. </a:t>
            </a:r>
            <a:r>
              <a:rPr lang="en-US" sz="5400" dirty="0" err="1"/>
              <a:t>Kỹ</a:t>
            </a:r>
            <a:r>
              <a:rPr lang="en-US" sz="5400" dirty="0"/>
              <a:t> </a:t>
            </a:r>
            <a:r>
              <a:rPr lang="en-US" sz="5400" dirty="0" err="1"/>
              <a:t>thuật</a:t>
            </a:r>
            <a:r>
              <a:rPr lang="en-US" sz="5400" dirty="0"/>
              <a:t> </a:t>
            </a:r>
            <a:r>
              <a:rPr lang="en-US" sz="5400" dirty="0" err="1"/>
              <a:t>lập</a:t>
            </a:r>
            <a:r>
              <a:rPr lang="en-US" sz="5400" dirty="0"/>
              <a:t> </a:t>
            </a:r>
            <a:r>
              <a:rPr lang="en-US" sz="5400" err="1"/>
              <a:t>trình</a:t>
            </a:r>
            <a:r>
              <a:rPr lang="en-US" sz="5400"/>
              <a:t>  -Công </a:t>
            </a:r>
            <a:r>
              <a:rPr lang="en-US" sz="5400" dirty="0" err="1"/>
              <a:t>nghệ</a:t>
            </a:r>
            <a:r>
              <a:rPr lang="en-US" sz="5400" dirty="0"/>
              <a:t> </a:t>
            </a:r>
            <a:r>
              <a:rPr lang="en-US" sz="5400" dirty="0" err="1"/>
              <a:t>áp</a:t>
            </a:r>
            <a:r>
              <a:rPr lang="en-US" sz="5400" dirty="0"/>
              <a:t> </a:t>
            </a:r>
            <a:r>
              <a:rPr lang="en-US" sz="5400" dirty="0" err="1"/>
              <a:t>dụng</a:t>
            </a:r>
            <a:endParaRPr lang="en-US" sz="5400" dirty="0"/>
          </a:p>
        </p:txBody>
      </p:sp>
    </p:spTree>
    <p:extLst>
      <p:ext uri="{BB962C8B-B14F-4D97-AF65-F5344CB8AC3E}">
        <p14:creationId xmlns:p14="http://schemas.microsoft.com/office/powerpoint/2010/main" val="5188223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7A365B-2C63-46A3-AD64-BA52831BEC40}"/>
              </a:ext>
            </a:extLst>
          </p:cNvPr>
          <p:cNvSpPr>
            <a:spLocks noGrp="1"/>
          </p:cNvSpPr>
          <p:nvPr>
            <p:ph type="body" sz="quarter" idx="13"/>
          </p:nvPr>
        </p:nvSpPr>
        <p:spPr>
          <a:xfrm>
            <a:off x="3430594" y="264672"/>
            <a:ext cx="3355833" cy="6328656"/>
          </a:xfrm>
        </p:spPr>
        <p:txBody>
          <a:bodyPr/>
          <a:lstStyle/>
          <a:p>
            <a:pPr marL="0" indent="0">
              <a:buNone/>
            </a:pPr>
            <a:r>
              <a:rPr lang="en-US" dirty="0"/>
              <a:t>1. Inheritance, Abstraction, Polymorphism, Encapsulation</a:t>
            </a:r>
          </a:p>
          <a:p>
            <a:pPr marL="0" indent="0">
              <a:buNone/>
            </a:pPr>
            <a:endParaRPr lang="en-US" dirty="0"/>
          </a:p>
          <a:p>
            <a:pPr marL="0" indent="0">
              <a:buNone/>
            </a:pPr>
            <a:r>
              <a:rPr lang="en-US" dirty="0"/>
              <a:t>2. Design Pattern</a:t>
            </a:r>
          </a:p>
          <a:p>
            <a:r>
              <a:rPr lang="en-US" dirty="0"/>
              <a:t>Simple Factory</a:t>
            </a:r>
          </a:p>
          <a:p>
            <a:r>
              <a:rPr lang="en-US" dirty="0"/>
              <a:t>Template Method</a:t>
            </a:r>
          </a:p>
          <a:p>
            <a:r>
              <a:rPr lang="vi-VN" dirty="0" err="1"/>
              <a:t>Pipeline</a:t>
            </a:r>
            <a:r>
              <a:rPr lang="vi-VN" dirty="0"/>
              <a:t> / </a:t>
            </a:r>
            <a:r>
              <a:rPr lang="vi-VN" dirty="0" err="1"/>
              <a:t>Chain</a:t>
            </a:r>
            <a:r>
              <a:rPr lang="vi-VN" dirty="0"/>
              <a:t> </a:t>
            </a:r>
            <a:r>
              <a:rPr lang="vi-VN" dirty="0" err="1"/>
              <a:t>of</a:t>
            </a:r>
            <a:r>
              <a:rPr lang="vi-VN" dirty="0"/>
              <a:t> </a:t>
            </a:r>
            <a:r>
              <a:rPr lang="vi-VN" dirty="0" err="1"/>
              <a:t>Responsibility</a:t>
            </a:r>
            <a:endParaRPr lang="en-US" dirty="0"/>
          </a:p>
          <a:p>
            <a:pPr marL="0" indent="0">
              <a:buNone/>
            </a:pPr>
            <a:endParaRPr lang="en-US" dirty="0"/>
          </a:p>
          <a:p>
            <a:pPr marL="0" indent="0">
              <a:buNone/>
            </a:pPr>
            <a:r>
              <a:rPr lang="en-US" dirty="0"/>
              <a:t>3. Exception handling</a:t>
            </a:r>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17</a:t>
            </a:fld>
            <a:endParaRPr lang="en-US" dirty="0"/>
          </a:p>
        </p:txBody>
      </p:sp>
      <p:pic>
        <p:nvPicPr>
          <p:cNvPr id="5" name="Picture 4">
            <a:extLst>
              <a:ext uri="{FF2B5EF4-FFF2-40B4-BE49-F238E27FC236}">
                <a16:creationId xmlns:a16="http://schemas.microsoft.com/office/drawing/2014/main" id="{3ACAC1F2-3525-213E-C7E7-8D6D7379C0D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786427" y="2438634"/>
            <a:ext cx="2822433" cy="1980731"/>
          </a:xfrm>
          <a:prstGeom prst="rect">
            <a:avLst/>
          </a:prstGeom>
        </p:spPr>
      </p:pic>
      <p:pic>
        <p:nvPicPr>
          <p:cNvPr id="7" name="Picture 6">
            <a:extLst>
              <a:ext uri="{FF2B5EF4-FFF2-40B4-BE49-F238E27FC236}">
                <a16:creationId xmlns:a16="http://schemas.microsoft.com/office/drawing/2014/main" id="{F50F775D-C9F8-9359-79C3-889DA3A75749}"/>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078704" y="4919286"/>
            <a:ext cx="3198806" cy="1674042"/>
          </a:xfrm>
          <a:prstGeom prst="rect">
            <a:avLst/>
          </a:prstGeom>
        </p:spPr>
      </p:pic>
      <p:pic>
        <p:nvPicPr>
          <p:cNvPr id="9" name="Picture 8">
            <a:extLst>
              <a:ext uri="{FF2B5EF4-FFF2-40B4-BE49-F238E27FC236}">
                <a16:creationId xmlns:a16="http://schemas.microsoft.com/office/drawing/2014/main" id="{BF4201F8-9483-044A-D1AC-D496CE7018AF}"/>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6274666" y="77379"/>
            <a:ext cx="3002844" cy="1689100"/>
          </a:xfrm>
          <a:prstGeom prst="rect">
            <a:avLst/>
          </a:prstGeom>
        </p:spPr>
      </p:pic>
    </p:spTree>
    <p:extLst>
      <p:ext uri="{BB962C8B-B14F-4D97-AF65-F5344CB8AC3E}">
        <p14:creationId xmlns:p14="http://schemas.microsoft.com/office/powerpoint/2010/main" val="319401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3">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p:tgtEl>
                                          <p:spTgt spid="9"/>
                                        </p:tgtEl>
                                        <p:attrNameLst>
                                          <p:attrName>ppt_y</p:attrName>
                                        </p:attrNameLst>
                                      </p:cBhvr>
                                      <p:tavLst>
                                        <p:tav tm="0">
                                          <p:val>
                                            <p:strVal val="#ppt_y+#ppt_h*1.125000"/>
                                          </p:val>
                                        </p:tav>
                                        <p:tav tm="100000">
                                          <p:val>
                                            <p:strVal val="#ppt_y"/>
                                          </p:val>
                                        </p:tav>
                                      </p:tavLst>
                                    </p:anim>
                                    <p:animEffect transition="in" filter="wipe(up)">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3">
                                            <p:txEl>
                                              <p:pRg st="2" end="2"/>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3">
                                            <p:txEl>
                                              <p:pRg st="2" end="2"/>
                                            </p:txEl>
                                          </p:spTgt>
                                        </p:tgtEl>
                                        <p:attrNameLst>
                                          <p:attrName>ppt_y</p:attrName>
                                        </p:attrNameLst>
                                      </p:cBhvr>
                                      <p:tavLst>
                                        <p:tav tm="0">
                                          <p:val>
                                            <p:strVal val="#ppt_y-.03"/>
                                          </p:val>
                                        </p:tav>
                                        <p:tav tm="100000">
                                          <p:val>
                                            <p:strVal val="#ppt_y"/>
                                          </p:val>
                                        </p:tav>
                                      </p:tavLst>
                                    </p:anim>
                                  </p:childTnLst>
                                </p:cTn>
                              </p:par>
                              <p:par>
                                <p:cTn id="25" presetID="37"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3">
                                            <p:txEl>
                                              <p:pRg st="3" end="3"/>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3">
                                            <p:txEl>
                                              <p:pRg st="3" end="3"/>
                                            </p:txEl>
                                          </p:spTgt>
                                        </p:tgtEl>
                                        <p:attrNameLst>
                                          <p:attrName>ppt_y</p:attrName>
                                        </p:attrNameLst>
                                      </p:cBhvr>
                                      <p:tavLst>
                                        <p:tav tm="0">
                                          <p:val>
                                            <p:strVal val="#ppt_y-.03"/>
                                          </p:val>
                                        </p:tav>
                                        <p:tav tm="100000">
                                          <p:val>
                                            <p:strVal val="#ppt_y"/>
                                          </p:val>
                                        </p:tav>
                                      </p:tavLst>
                                    </p:anim>
                                  </p:childTnLst>
                                </p:cTn>
                              </p:par>
                              <p:par>
                                <p:cTn id="31" presetID="37" presetClass="entr" presetSubtype="0"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900" decel="100000" fill="hold"/>
                                        <p:tgtEl>
                                          <p:spTgt spid="3">
                                            <p:txEl>
                                              <p:pRg st="4" end="4"/>
                                            </p:txEl>
                                          </p:spTgt>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3">
                                            <p:txEl>
                                              <p:pRg st="4" end="4"/>
                                            </p:txEl>
                                          </p:spTgt>
                                        </p:tgtEl>
                                        <p:attrNameLst>
                                          <p:attrName>ppt_y</p:attrName>
                                        </p:attrNameLst>
                                      </p:cBhvr>
                                      <p:tavLst>
                                        <p:tav tm="0">
                                          <p:val>
                                            <p:strVal val="#ppt_y-.03"/>
                                          </p:val>
                                        </p:tav>
                                        <p:tav tm="100000">
                                          <p:val>
                                            <p:strVal val="#ppt_y"/>
                                          </p:val>
                                        </p:tav>
                                      </p:tavLst>
                                    </p:anim>
                                  </p:childTnLst>
                                </p:cTn>
                              </p:par>
                              <p:par>
                                <p:cTn id="37" presetID="37" presetClass="entr" presetSubtype="0" fill="hold"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1000"/>
                                        <p:tgtEl>
                                          <p:spTgt spid="3">
                                            <p:txEl>
                                              <p:pRg st="5" end="5"/>
                                            </p:txEl>
                                          </p:spTgt>
                                        </p:tgtEl>
                                      </p:cBhvr>
                                    </p:animEffect>
                                    <p:anim calcmode="lin" valueType="num">
                                      <p:cBhvr>
                                        <p:cTn id="4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1" dur="900" decel="100000" fill="hold"/>
                                        <p:tgtEl>
                                          <p:spTgt spid="3">
                                            <p:txEl>
                                              <p:pRg st="5" end="5"/>
                                            </p:txEl>
                                          </p:spTgt>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3">
                                            <p:txEl>
                                              <p:pRg st="5" end="5"/>
                                            </p:txEl>
                                          </p:spTgt>
                                        </p:tgtEl>
                                        <p:attrNameLst>
                                          <p:attrName>ppt_y</p:attrName>
                                        </p:attrNameLst>
                                      </p:cBhvr>
                                      <p:tavLst>
                                        <p:tav tm="0">
                                          <p:val>
                                            <p:strVal val="#ppt_y-.03"/>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500"/>
                                        <p:tgtEl>
                                          <p:spTgt spid="5"/>
                                        </p:tgtEl>
                                        <p:attrNameLst>
                                          <p:attrName>ppt_y</p:attrName>
                                        </p:attrNameLst>
                                      </p:cBhvr>
                                      <p:tavLst>
                                        <p:tav tm="0">
                                          <p:val>
                                            <p:strVal val="#ppt_y+#ppt_h*1.125000"/>
                                          </p:val>
                                        </p:tav>
                                        <p:tav tm="100000">
                                          <p:val>
                                            <p:strVal val="#ppt_y"/>
                                          </p:val>
                                        </p:tav>
                                      </p:tavLst>
                                    </p:anim>
                                    <p:animEffect transition="in" filter="wipe(up)">
                                      <p:cBhvr>
                                        <p:cTn id="48" dur="5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37" presetClass="entr" presetSubtype="0" fill="hold" nodeType="click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Effect transition="in" filter="fade">
                                      <p:cBhvr>
                                        <p:cTn id="53" dur="1000"/>
                                        <p:tgtEl>
                                          <p:spTgt spid="3">
                                            <p:txEl>
                                              <p:pRg st="7" end="7"/>
                                            </p:txEl>
                                          </p:spTgt>
                                        </p:tgtEl>
                                      </p:cBhvr>
                                    </p:animEffect>
                                    <p:anim calcmode="lin" valueType="num">
                                      <p:cBhvr>
                                        <p:cTn id="5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5" dur="900" decel="100000" fill="hold"/>
                                        <p:tgtEl>
                                          <p:spTgt spid="3">
                                            <p:txEl>
                                              <p:pRg st="7" end="7"/>
                                            </p:txEl>
                                          </p:spTgt>
                                        </p:tgtEl>
                                        <p:attrNameLst>
                                          <p:attrName>ppt_y</p:attrName>
                                        </p:attrNameLst>
                                      </p:cBhvr>
                                      <p:tavLst>
                                        <p:tav tm="0">
                                          <p:val>
                                            <p:strVal val="#ppt_y+1"/>
                                          </p:val>
                                        </p:tav>
                                        <p:tav tm="100000">
                                          <p:val>
                                            <p:strVal val="#ppt_y-.03"/>
                                          </p:val>
                                        </p:tav>
                                      </p:tavLst>
                                    </p:anim>
                                    <p:anim calcmode="lin" valueType="num">
                                      <p:cBhvr>
                                        <p:cTn id="56" dur="100" accel="100000" fill="hold">
                                          <p:stCondLst>
                                            <p:cond delay="900"/>
                                          </p:stCondLst>
                                        </p:cTn>
                                        <p:tgtEl>
                                          <p:spTgt spid="3">
                                            <p:txEl>
                                              <p:pRg st="7" end="7"/>
                                            </p:txEl>
                                          </p:spTgt>
                                        </p:tgtEl>
                                        <p:attrNameLst>
                                          <p:attrName>ppt_y</p:attrName>
                                        </p:attrNameLst>
                                      </p:cBhvr>
                                      <p:tavLst>
                                        <p:tav tm="0">
                                          <p:val>
                                            <p:strVal val="#ppt_y-.03"/>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500"/>
                                        <p:tgtEl>
                                          <p:spTgt spid="7"/>
                                        </p:tgtEl>
                                        <p:attrNameLst>
                                          <p:attrName>ppt_y</p:attrName>
                                        </p:attrNameLst>
                                      </p:cBhvr>
                                      <p:tavLst>
                                        <p:tav tm="0">
                                          <p:val>
                                            <p:strVal val="#ppt_y+#ppt_h*1.125000"/>
                                          </p:val>
                                        </p:tav>
                                        <p:tav tm="100000">
                                          <p:val>
                                            <p:strVal val="#ppt_y"/>
                                          </p:val>
                                        </p:tav>
                                      </p:tavLst>
                                    </p:anim>
                                    <p:animEffect transition="in" filter="wipe(up)">
                                      <p:cBhvr>
                                        <p:cTn id="6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52685-D087-C9B6-825E-FB9743EB92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5DD66F-41CA-8736-D343-8EA3252ED33C}"/>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itle 2">
            <a:extLst>
              <a:ext uri="{FF2B5EF4-FFF2-40B4-BE49-F238E27FC236}">
                <a16:creationId xmlns:a16="http://schemas.microsoft.com/office/drawing/2014/main" id="{0538DDD0-87FE-B393-9375-549BA2661296}"/>
              </a:ext>
            </a:extLst>
          </p:cNvPr>
          <p:cNvSpPr>
            <a:spLocks noGrp="1"/>
          </p:cNvSpPr>
          <p:nvPr>
            <p:ph type="title"/>
          </p:nvPr>
        </p:nvSpPr>
        <p:spPr/>
        <p:txBody>
          <a:bodyPr/>
          <a:lstStyle/>
          <a:p>
            <a:r>
              <a:rPr lang="en-US"/>
              <a:t>3.1.1. </a:t>
            </a:r>
            <a:r>
              <a:rPr lang="vi-VN"/>
              <a:t>Tính </a:t>
            </a:r>
            <a:r>
              <a:rPr lang="vi-VN" dirty="0"/>
              <a:t>Kế thừa (</a:t>
            </a:r>
            <a:r>
              <a:rPr lang="vi-VN" dirty="0" err="1"/>
              <a:t>Inheritance</a:t>
            </a:r>
            <a:r>
              <a:rPr lang="vi-VN" dirty="0"/>
              <a:t>)</a:t>
            </a:r>
            <a:endParaRPr lang="en-US" dirty="0"/>
          </a:p>
        </p:txBody>
      </p:sp>
      <p:sp>
        <p:nvSpPr>
          <p:cNvPr id="7" name="Rectangle 3">
            <a:extLst>
              <a:ext uri="{FF2B5EF4-FFF2-40B4-BE49-F238E27FC236}">
                <a16:creationId xmlns:a16="http://schemas.microsoft.com/office/drawing/2014/main" id="{C7E98086-5E41-3B83-61FE-5915E840E689}"/>
              </a:ext>
            </a:extLst>
          </p:cNvPr>
          <p:cNvSpPr>
            <a:spLocks noGrp="1" noChangeArrowheads="1"/>
          </p:cNvSpPr>
          <p:nvPr>
            <p:ph type="body" sz="quarter" idx="13"/>
          </p:nvPr>
        </p:nvSpPr>
        <p:spPr bwMode="auto">
          <a:xfrm>
            <a:off x="0" y="3202699"/>
            <a:ext cx="867384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000" b="1" i="0" u="none" strike="noStrike" cap="none" normalizeH="0" baseline="0">
                <a:ln>
                  <a:noFill/>
                </a:ln>
                <a:solidFill>
                  <a:schemeClr val="tx1"/>
                </a:solidFill>
                <a:effectLst/>
              </a:rPr>
              <a:t> </a:t>
            </a:r>
            <a:r>
              <a:rPr kumimoji="0" lang="vi-VN" altLang="vi-VN" sz="2000" b="1" i="0" u="none" strike="noStrike" cap="none" normalizeH="0" baseline="0">
                <a:ln>
                  <a:noFill/>
                </a:ln>
                <a:solidFill>
                  <a:schemeClr val="tx1"/>
                </a:solidFill>
                <a:effectLst/>
              </a:rPr>
              <a:t>Khái </a:t>
            </a:r>
            <a:r>
              <a:rPr kumimoji="0" lang="vi-VN" altLang="vi-VN" sz="2000" b="1" i="0" u="none" strike="noStrike" cap="none" normalizeH="0" baseline="0" dirty="0">
                <a:ln>
                  <a:noFill/>
                </a:ln>
                <a:solidFill>
                  <a:schemeClr val="tx1"/>
                </a:solidFill>
                <a:effectLst/>
              </a:rPr>
              <a:t>niệm:</a:t>
            </a:r>
            <a:r>
              <a:rPr kumimoji="0" lang="vi-VN" altLang="vi-VN" sz="2000" i="0" u="none" strike="noStrike" cap="none" normalizeH="0" baseline="0" dirty="0">
                <a:ln>
                  <a:noFill/>
                </a:ln>
                <a:solidFill>
                  <a:schemeClr val="tx1"/>
                </a:solidFill>
                <a:effectLst/>
              </a:rPr>
              <a:t> Cho phép một lớp (</a:t>
            </a:r>
            <a:r>
              <a:rPr kumimoji="0" lang="vi-VN" altLang="vi-VN" sz="2000" i="0" u="none" strike="noStrike" cap="none" normalizeH="0" baseline="0" dirty="0" err="1">
                <a:ln>
                  <a:noFill/>
                </a:ln>
                <a:solidFill>
                  <a:schemeClr val="tx1"/>
                </a:solidFill>
                <a:effectLst/>
              </a:rPr>
              <a:t>class</a:t>
            </a:r>
            <a:r>
              <a:rPr kumimoji="0" lang="vi-VN" altLang="vi-VN" sz="2000" i="0" u="none" strike="noStrike" cap="none" normalizeH="0" baseline="0" dirty="0">
                <a:ln>
                  <a:noFill/>
                </a:ln>
                <a:solidFill>
                  <a:schemeClr val="tx1"/>
                </a:solidFill>
                <a:effectLst/>
              </a:rPr>
              <a:t>) con được kế thừa lại toàn bộ các thuộc tính và phương thức (hàm) của một lớp cha.</a:t>
            </a:r>
          </a:p>
          <a:p>
            <a:pPr marL="0" marR="0" lvl="0" indent="0" algn="l" defTabSz="914400" rtl="0" eaLnBrk="0" fontAlgn="base" latinLnBrk="0" hangingPunct="0">
              <a:lnSpc>
                <a:spcPct val="100000"/>
              </a:lnSpc>
              <a:spcBef>
                <a:spcPct val="0"/>
              </a:spcBef>
              <a:spcAft>
                <a:spcPct val="0"/>
              </a:spcAft>
              <a:buClrTx/>
              <a:buSzTx/>
              <a:buFontTx/>
              <a:buChar char="•"/>
              <a:tabLst/>
            </a:pPr>
            <a:endParaRPr lang="vi-VN" altLang="vi-VN" sz="20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vi-VN" altLang="vi-VN" sz="20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000" b="1" i="0" u="none" strike="noStrike" cap="none" normalizeH="0" baseline="0">
                <a:ln>
                  <a:noFill/>
                </a:ln>
                <a:solidFill>
                  <a:schemeClr val="tx1"/>
                </a:solidFill>
                <a:effectLst/>
              </a:rPr>
              <a:t> </a:t>
            </a:r>
            <a:r>
              <a:rPr kumimoji="0" lang="vi-VN" altLang="vi-VN" sz="2000" b="1" i="0" u="none" strike="noStrike" cap="none" normalizeH="0" baseline="0">
                <a:ln>
                  <a:noFill/>
                </a:ln>
                <a:solidFill>
                  <a:schemeClr val="tx1"/>
                </a:solidFill>
                <a:effectLst/>
              </a:rPr>
              <a:t>Mục </a:t>
            </a:r>
            <a:r>
              <a:rPr kumimoji="0" lang="vi-VN" altLang="vi-VN" sz="2000" b="1" i="0" u="none" strike="noStrike" cap="none" normalizeH="0" baseline="0" dirty="0">
                <a:ln>
                  <a:noFill/>
                </a:ln>
                <a:solidFill>
                  <a:schemeClr val="tx1"/>
                </a:solidFill>
                <a:effectLst/>
              </a:rPr>
              <a:t>đích:</a:t>
            </a:r>
            <a:r>
              <a:rPr kumimoji="0" lang="vi-VN" altLang="vi-VN" sz="2000" i="0" u="none" strike="noStrike" cap="none" normalizeH="0" baseline="0" dirty="0">
                <a:ln>
                  <a:noFill/>
                </a:ln>
                <a:solidFill>
                  <a:schemeClr val="tx1"/>
                </a:solidFill>
                <a:effectLst/>
              </a:rPr>
              <a:t> Tái sử dụng </a:t>
            </a:r>
            <a:r>
              <a:rPr kumimoji="0" lang="vi-VN" altLang="vi-VN" sz="2000" i="0" u="none" strike="noStrike" cap="none" normalizeH="0" baseline="0" dirty="0" err="1">
                <a:ln>
                  <a:noFill/>
                </a:ln>
                <a:solidFill>
                  <a:schemeClr val="tx1"/>
                </a:solidFill>
                <a:effectLst/>
              </a:rPr>
              <a:t>code</a:t>
            </a:r>
            <a:r>
              <a:rPr kumimoji="0" lang="vi-VN" altLang="vi-VN" sz="2000" i="0" u="none" strike="noStrike" cap="none" normalizeH="0" baseline="0" dirty="0">
                <a:ln>
                  <a:noFill/>
                </a:ln>
                <a:solidFill>
                  <a:schemeClr val="tx1"/>
                </a:solidFill>
                <a:effectLst/>
              </a:rPr>
              <a:t>, tránh việc phải viết đi viết lại một đoạn </a:t>
            </a:r>
            <a:r>
              <a:rPr kumimoji="0" lang="vi-VN" altLang="vi-VN" sz="2000" i="0" u="none" strike="noStrike" cap="none" normalizeH="0" baseline="0" dirty="0" err="1">
                <a:ln>
                  <a:noFill/>
                </a:ln>
                <a:solidFill>
                  <a:schemeClr val="tx1"/>
                </a:solidFill>
                <a:effectLst/>
              </a:rPr>
              <a:t>logic</a:t>
            </a:r>
            <a:r>
              <a:rPr kumimoji="0" lang="vi-VN" altLang="vi-VN" sz="2000" i="0" u="none" strike="noStrike" cap="none" normalizeH="0" baseline="0" dirty="0">
                <a:ln>
                  <a:noFill/>
                </a:ln>
                <a:solidFill>
                  <a:schemeClr val="tx1"/>
                </a:solidFill>
                <a:effectLst/>
              </a:rPr>
              <a:t> giống nhau ở nhiều nơi (nguyên tắc DRY - </a:t>
            </a:r>
            <a:r>
              <a:rPr kumimoji="0" lang="vi-VN" altLang="vi-VN" sz="2000" i="0" u="none" strike="noStrike" cap="none" normalizeH="0" baseline="0" dirty="0" err="1">
                <a:ln>
                  <a:noFill/>
                </a:ln>
                <a:solidFill>
                  <a:schemeClr val="tx1"/>
                </a:solidFill>
                <a:effectLst/>
              </a:rPr>
              <a:t>Don't</a:t>
            </a:r>
            <a:r>
              <a:rPr kumimoji="0" lang="vi-VN" altLang="vi-VN" sz="2000" i="0" u="none" strike="noStrike" cap="none" normalizeH="0" baseline="0" dirty="0">
                <a:ln>
                  <a:noFill/>
                </a:ln>
                <a:solidFill>
                  <a:schemeClr val="tx1"/>
                </a:solidFill>
                <a:effectLst/>
              </a:rPr>
              <a:t> </a:t>
            </a:r>
            <a:r>
              <a:rPr kumimoji="0" lang="vi-VN" altLang="vi-VN" sz="2000" i="0" u="none" strike="noStrike" cap="none" normalizeH="0" baseline="0" dirty="0" err="1">
                <a:ln>
                  <a:noFill/>
                </a:ln>
                <a:solidFill>
                  <a:schemeClr val="tx1"/>
                </a:solidFill>
                <a:effectLst/>
              </a:rPr>
              <a:t>Repeat</a:t>
            </a:r>
            <a:r>
              <a:rPr kumimoji="0" lang="vi-VN" altLang="vi-VN" sz="2000" i="0" u="none" strike="noStrike" cap="none" normalizeH="0" baseline="0" dirty="0">
                <a:ln>
                  <a:noFill/>
                </a:ln>
                <a:solidFill>
                  <a:schemeClr val="tx1"/>
                </a:solidFill>
                <a:effectLst/>
              </a:rPr>
              <a:t> </a:t>
            </a:r>
            <a:r>
              <a:rPr kumimoji="0" lang="vi-VN" altLang="vi-VN" sz="2000" i="0" u="none" strike="noStrike" cap="none" normalizeH="0" baseline="0" dirty="0" err="1">
                <a:ln>
                  <a:noFill/>
                </a:ln>
                <a:solidFill>
                  <a:schemeClr val="tx1"/>
                </a:solidFill>
                <a:effectLst/>
              </a:rPr>
              <a:t>Yourself</a:t>
            </a:r>
            <a:r>
              <a:rPr kumimoji="0" lang="vi-VN" altLang="vi-VN" sz="2000" i="0" u="none" strike="noStrike" cap="none" normalizeH="0" baseline="0" dirty="0">
                <a:ln>
                  <a:noFill/>
                </a:ln>
                <a:solidFill>
                  <a:schemeClr val="tx1"/>
                </a:solidFill>
                <a:effectLst/>
              </a:rPr>
              <a:t>)</a:t>
            </a:r>
          </a:p>
        </p:txBody>
      </p:sp>
      <p:sp>
        <p:nvSpPr>
          <p:cNvPr id="5" name="TextBox 4">
            <a:extLst>
              <a:ext uri="{FF2B5EF4-FFF2-40B4-BE49-F238E27FC236}">
                <a16:creationId xmlns:a16="http://schemas.microsoft.com/office/drawing/2014/main" id="{4CF61CC4-88FF-0A38-8D92-4B3AB3B576E9}"/>
              </a:ext>
            </a:extLst>
          </p:cNvPr>
          <p:cNvSpPr txBox="1"/>
          <p:nvPr/>
        </p:nvSpPr>
        <p:spPr>
          <a:xfrm>
            <a:off x="0" y="1174188"/>
            <a:ext cx="9144000" cy="170944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ts val="1425"/>
              </a:lnSpc>
            </a:pPr>
            <a:r>
              <a:rPr lang="en-US" sz="1400" b="0">
                <a:solidFill>
                  <a:srgbClr val="008000"/>
                </a:solidFill>
                <a:effectLst/>
                <a:latin typeface="Consolas" panose="020B0609020204030204" pitchFamily="49" charset="0"/>
              </a:rPr>
              <a:t>// Các lớp kế thừa BaseKeywordAnalysis</a:t>
            </a:r>
            <a:r>
              <a:rPr lang="en-US" sz="1400">
                <a:solidFill>
                  <a:srgbClr val="008000"/>
                </a:solidFill>
                <a:latin typeface="Consolas" panose="020B0609020204030204" pitchFamily="49" charset="0"/>
              </a:rPr>
              <a:t> (Pseudocode)</a:t>
            </a:r>
            <a:endParaRPr lang="en-US" sz="1400" b="0">
              <a:solidFill>
                <a:srgbClr val="008000"/>
              </a:solidFill>
              <a:effectLst/>
              <a:latin typeface="Consolas" panose="020B0609020204030204" pitchFamily="49" charset="0"/>
            </a:endParaRPr>
          </a:p>
          <a:p>
            <a:pPr>
              <a:lnSpc>
                <a:spcPts val="1425"/>
              </a:lnSpc>
              <a:buNone/>
            </a:pPr>
            <a:endParaRPr lang="en-US" sz="1400" b="0">
              <a:solidFill>
                <a:srgbClr val="000000"/>
              </a:solidFill>
              <a:effectLst/>
              <a:latin typeface="Consolas" panose="020B0609020204030204" pitchFamily="49" charset="0"/>
            </a:endParaRPr>
          </a:p>
          <a:p>
            <a:pPr>
              <a:lnSpc>
                <a:spcPts val="1425"/>
              </a:lnSpc>
              <a:buNone/>
            </a:pPr>
            <a:r>
              <a:rPr lang="en-US" sz="1400" b="0">
                <a:solidFill>
                  <a:srgbClr val="0000FF"/>
                </a:solidFill>
                <a:effectLst/>
                <a:latin typeface="Consolas" panose="020B0609020204030204" pitchFamily="49" charset="0"/>
              </a:rPr>
              <a:t>public</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class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DamageCategoryAnalysis</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extends</a:t>
            </a:r>
            <a:r>
              <a:rPr lang="en-US" sz="1400">
                <a:solidFill>
                  <a:srgbClr val="000000"/>
                </a:solidFill>
                <a:latin typeface="Consolas" panose="020B0609020204030204" pitchFamily="49" charset="0"/>
              </a:rPr>
              <a:t> </a:t>
            </a:r>
            <a:r>
              <a:rPr lang="en-US" sz="1400" b="0">
                <a:solidFill>
                  <a:srgbClr val="267F99"/>
                </a:solidFill>
                <a:effectLst/>
                <a:latin typeface="Consolas" panose="020B0609020204030204" pitchFamily="49" charset="0"/>
              </a:rPr>
              <a:t>BaseKeywordAnalysis</a:t>
            </a:r>
            <a:r>
              <a:rPr lang="en-US" sz="1400" b="0">
                <a:solidFill>
                  <a:srgbClr val="000000"/>
                </a:solidFill>
                <a:effectLst/>
                <a:latin typeface="Consolas" panose="020B0609020204030204" pitchFamily="49" charset="0"/>
              </a:rPr>
              <a:t>&lt;</a:t>
            </a:r>
            <a:r>
              <a:rPr lang="en-US" sz="1400" b="0">
                <a:solidFill>
                  <a:srgbClr val="267F99"/>
                </a:solidFill>
                <a:effectLst/>
                <a:latin typeface="Consolas" panose="020B0609020204030204" pitchFamily="49" charset="0"/>
              </a:rPr>
              <a:t>CountNum</a:t>
            </a:r>
            <a:r>
              <a:rPr lang="en-US" sz="1400" b="0">
                <a:solidFill>
                  <a:srgbClr val="000000"/>
                </a:solidFill>
                <a:effectLst/>
                <a:latin typeface="Consolas" panose="020B0609020204030204" pitchFamily="49" charset="0"/>
              </a:rPr>
              <a:t>&gt; {}</a:t>
            </a:r>
          </a:p>
          <a:p>
            <a:pPr>
              <a:lnSpc>
                <a:spcPts val="1425"/>
              </a:lnSpc>
              <a:buNone/>
            </a:pPr>
            <a:endParaRPr lang="en-US" sz="1400" b="0">
              <a:solidFill>
                <a:srgbClr val="000000"/>
              </a:solidFill>
              <a:effectLst/>
              <a:latin typeface="Consolas" panose="020B0609020204030204" pitchFamily="49" charset="0"/>
            </a:endParaRPr>
          </a:p>
          <a:p>
            <a:pPr>
              <a:lnSpc>
                <a:spcPts val="1425"/>
              </a:lnSpc>
              <a:buNone/>
            </a:pPr>
            <a:r>
              <a:rPr lang="en-US" sz="1400" b="0">
                <a:solidFill>
                  <a:srgbClr val="0000FF"/>
                </a:solidFill>
                <a:effectLst/>
                <a:latin typeface="Consolas" panose="020B0609020204030204" pitchFamily="49" charset="0"/>
              </a:rPr>
              <a:t>public</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class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LocationAnalysis</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extends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BaseKeywordAnalysis</a:t>
            </a:r>
            <a:r>
              <a:rPr lang="en-US" sz="1400" b="0">
                <a:solidFill>
                  <a:srgbClr val="000000"/>
                </a:solidFill>
                <a:effectLst/>
                <a:latin typeface="Consolas" panose="020B0609020204030204" pitchFamily="49" charset="0"/>
              </a:rPr>
              <a:t>&lt;</a:t>
            </a:r>
            <a:r>
              <a:rPr lang="en-US" sz="1400" b="0">
                <a:solidFill>
                  <a:srgbClr val="267F99"/>
                </a:solidFill>
                <a:effectLst/>
                <a:latin typeface="Consolas" panose="020B0609020204030204" pitchFamily="49" charset="0"/>
              </a:rPr>
              <a:t>CountNum</a:t>
            </a:r>
            <a:r>
              <a:rPr lang="en-US" sz="1400" b="0">
                <a:solidFill>
                  <a:srgbClr val="000000"/>
                </a:solidFill>
                <a:effectLst/>
                <a:latin typeface="Consolas" panose="020B0609020204030204" pitchFamily="49" charset="0"/>
              </a:rPr>
              <a:t>&gt; {}</a:t>
            </a:r>
          </a:p>
          <a:p>
            <a:pPr>
              <a:lnSpc>
                <a:spcPts val="1425"/>
              </a:lnSpc>
              <a:buNone/>
            </a:pPr>
            <a:endParaRPr lang="en-US" sz="1400" b="0">
              <a:solidFill>
                <a:srgbClr val="000000"/>
              </a:solidFill>
              <a:effectLst/>
              <a:latin typeface="Consolas" panose="020B0609020204030204" pitchFamily="49" charset="0"/>
            </a:endParaRPr>
          </a:p>
          <a:p>
            <a:pPr>
              <a:lnSpc>
                <a:spcPts val="1425"/>
              </a:lnSpc>
              <a:buNone/>
            </a:pPr>
            <a:r>
              <a:rPr lang="en-US" sz="1400" b="0">
                <a:solidFill>
                  <a:srgbClr val="0000FF"/>
                </a:solidFill>
                <a:effectLst/>
                <a:latin typeface="Consolas" panose="020B0609020204030204" pitchFamily="49" charset="0"/>
              </a:rPr>
              <a:t>public</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class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SatisfactionAnalysis</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extends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BaseKeywordAnalysis</a:t>
            </a:r>
            <a:r>
              <a:rPr lang="en-US" sz="1400" b="0">
                <a:solidFill>
                  <a:srgbClr val="000000"/>
                </a:solidFill>
                <a:effectLst/>
                <a:latin typeface="Consolas" panose="020B0609020204030204" pitchFamily="49" charset="0"/>
              </a:rPr>
              <a:t>&lt;</a:t>
            </a:r>
            <a:r>
              <a:rPr lang="en-US" sz="1400" b="0">
                <a:solidFill>
                  <a:srgbClr val="267F99"/>
                </a:solidFill>
                <a:effectLst/>
                <a:latin typeface="Consolas" panose="020B0609020204030204" pitchFamily="49" charset="0"/>
              </a:rPr>
              <a:t>SentimentResult</a:t>
            </a:r>
            <a:r>
              <a:rPr lang="en-US" sz="1400" b="0">
                <a:solidFill>
                  <a:srgbClr val="000000"/>
                </a:solidFill>
                <a:effectLst/>
                <a:latin typeface="Consolas" panose="020B0609020204030204" pitchFamily="49" charset="0"/>
              </a:rPr>
              <a:t>&gt; {}</a:t>
            </a:r>
          </a:p>
          <a:p>
            <a:pPr>
              <a:lnSpc>
                <a:spcPts val="1425"/>
              </a:lnSpc>
              <a:buNone/>
            </a:pPr>
            <a:endParaRPr lang="en-US" sz="1400" b="0">
              <a:solidFill>
                <a:srgbClr val="000000"/>
              </a:solidFill>
              <a:effectLst/>
              <a:latin typeface="Consolas" panose="020B0609020204030204" pitchFamily="49" charset="0"/>
            </a:endParaRPr>
          </a:p>
          <a:p>
            <a:pPr>
              <a:lnSpc>
                <a:spcPts val="1425"/>
              </a:lnSpc>
              <a:buNone/>
            </a:pPr>
            <a:r>
              <a:rPr lang="en-US" sz="1400" b="0">
                <a:solidFill>
                  <a:srgbClr val="0000FF"/>
                </a:solidFill>
                <a:effectLst/>
                <a:latin typeface="Consolas" panose="020B0609020204030204" pitchFamily="49" charset="0"/>
              </a:rPr>
              <a:t>public</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class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SentimentOverTimeAnalysis</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extends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BaseKeywordAnalysis</a:t>
            </a:r>
            <a:r>
              <a:rPr lang="en-US" sz="1400" b="0">
                <a:solidFill>
                  <a:srgbClr val="000000"/>
                </a:solidFill>
                <a:effectLst/>
                <a:latin typeface="Consolas" panose="020B0609020204030204" pitchFamily="49" charset="0"/>
              </a:rPr>
              <a:t>&lt;</a:t>
            </a:r>
            <a:r>
              <a:rPr lang="en-US" sz="1400" b="0">
                <a:solidFill>
                  <a:srgbClr val="267F99"/>
                </a:solidFill>
                <a:effectLst/>
                <a:latin typeface="Consolas" panose="020B0609020204030204" pitchFamily="49" charset="0"/>
              </a:rPr>
              <a:t>SentimentResult</a:t>
            </a:r>
            <a:r>
              <a:rPr lang="en-US" sz="1400" b="0">
                <a:solidFill>
                  <a:srgbClr val="000000"/>
                </a:solidFill>
                <a:effectLst/>
                <a:latin typeface="Consolas" panose="020B0609020204030204" pitchFamily="49" charset="0"/>
              </a:rPr>
              <a:t>&gt; {}</a:t>
            </a:r>
          </a:p>
        </p:txBody>
      </p:sp>
    </p:spTree>
    <p:extLst>
      <p:ext uri="{BB962C8B-B14F-4D97-AF65-F5344CB8AC3E}">
        <p14:creationId xmlns:p14="http://schemas.microsoft.com/office/powerpoint/2010/main" val="147124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randombar(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randombar(horizontal)">
                                      <p:cBhvr>
                                        <p:cTn id="1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31847-2173-C175-5898-BB4211435CC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8437BE-0E42-55FB-842B-0D61EB27FA01}"/>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3" name="Title 2">
            <a:extLst>
              <a:ext uri="{FF2B5EF4-FFF2-40B4-BE49-F238E27FC236}">
                <a16:creationId xmlns:a16="http://schemas.microsoft.com/office/drawing/2014/main" id="{372FFB8D-1617-9BF8-D91C-3E6644781A8B}"/>
              </a:ext>
            </a:extLst>
          </p:cNvPr>
          <p:cNvSpPr>
            <a:spLocks noGrp="1"/>
          </p:cNvSpPr>
          <p:nvPr>
            <p:ph type="title"/>
          </p:nvPr>
        </p:nvSpPr>
        <p:spPr/>
        <p:txBody>
          <a:bodyPr/>
          <a:lstStyle/>
          <a:p>
            <a:r>
              <a:rPr lang="en-US"/>
              <a:t>3.1.2. </a:t>
            </a:r>
            <a:r>
              <a:rPr lang="vi-VN"/>
              <a:t>Tính Trừu tượng (Abstraction)</a:t>
            </a:r>
            <a:endParaRPr lang="en-US" dirty="0"/>
          </a:p>
        </p:txBody>
      </p:sp>
      <p:sp>
        <p:nvSpPr>
          <p:cNvPr id="14" name="Rectangle 1">
            <a:extLst>
              <a:ext uri="{FF2B5EF4-FFF2-40B4-BE49-F238E27FC236}">
                <a16:creationId xmlns:a16="http://schemas.microsoft.com/office/drawing/2014/main" id="{3CC0365A-EB42-BC6A-A8AC-0A9C2648B1A9}"/>
              </a:ext>
            </a:extLst>
          </p:cNvPr>
          <p:cNvSpPr txBox="1">
            <a:spLocks noChangeArrowheads="1"/>
          </p:cNvSpPr>
          <p:nvPr/>
        </p:nvSpPr>
        <p:spPr bwMode="auto">
          <a:xfrm>
            <a:off x="14048" y="3884211"/>
            <a:ext cx="891073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Char char="•"/>
            </a:pPr>
            <a:r>
              <a:rPr lang="en-US" altLang="vi-VN" sz="2000" b="1"/>
              <a:t> </a:t>
            </a:r>
            <a:r>
              <a:rPr lang="vi-VN" altLang="vi-VN" sz="2000" b="1"/>
              <a:t>Khái </a:t>
            </a:r>
            <a:r>
              <a:rPr lang="vi-VN" altLang="vi-VN" sz="2000" b="1" dirty="0"/>
              <a:t>niệm:</a:t>
            </a:r>
            <a:r>
              <a:rPr lang="vi-VN" altLang="vi-VN" sz="2000" dirty="0"/>
              <a:t> Kỹ thuật ẩn đi những chi tiết xử lý phức tạp bên trong, chỉ phơi bày ra bên ngoài những giao diện (tên hàm, tham số) cần thiết để sử dụng.</a:t>
            </a:r>
          </a:p>
          <a:p>
            <a:pPr marL="0" indent="0" eaLnBrk="0" fontAlgn="base" hangingPunct="0">
              <a:lnSpc>
                <a:spcPct val="100000"/>
              </a:lnSpc>
              <a:spcBef>
                <a:spcPct val="0"/>
              </a:spcBef>
              <a:spcAft>
                <a:spcPct val="0"/>
              </a:spcAft>
              <a:buFontTx/>
              <a:buChar char="•"/>
            </a:pPr>
            <a:endParaRPr lang="vi-VN" altLang="vi-VN" sz="2000" dirty="0"/>
          </a:p>
          <a:p>
            <a:pPr marL="0" indent="0" eaLnBrk="0" fontAlgn="base" hangingPunct="0">
              <a:lnSpc>
                <a:spcPct val="100000"/>
              </a:lnSpc>
              <a:spcBef>
                <a:spcPct val="0"/>
              </a:spcBef>
              <a:spcAft>
                <a:spcPct val="0"/>
              </a:spcAft>
              <a:buFont typeface="Arial" panose="020B0604020202020204" pitchFamily="34" charset="0"/>
              <a:buNone/>
            </a:pPr>
            <a:endParaRPr lang="vi-VN" altLang="vi-VN" sz="2000" dirty="0"/>
          </a:p>
          <a:p>
            <a:pPr marL="0" indent="0" eaLnBrk="0" fontAlgn="base" hangingPunct="0">
              <a:lnSpc>
                <a:spcPct val="100000"/>
              </a:lnSpc>
              <a:spcBef>
                <a:spcPct val="0"/>
              </a:spcBef>
              <a:spcAft>
                <a:spcPct val="0"/>
              </a:spcAft>
              <a:buFontTx/>
              <a:buChar char="•"/>
            </a:pPr>
            <a:r>
              <a:rPr lang="en-US" altLang="vi-VN" sz="2000" b="1"/>
              <a:t> </a:t>
            </a:r>
            <a:r>
              <a:rPr lang="vi-VN" altLang="vi-VN" sz="2000" b="1"/>
              <a:t>Mục </a:t>
            </a:r>
            <a:r>
              <a:rPr lang="vi-VN" altLang="vi-VN" sz="2000" b="1" dirty="0"/>
              <a:t>đích:</a:t>
            </a:r>
            <a:r>
              <a:rPr lang="vi-VN" altLang="vi-VN" sz="2000" dirty="0"/>
              <a:t> Giúp người gọi hàm (</a:t>
            </a:r>
            <a:r>
              <a:rPr lang="vi-VN" altLang="vi-VN" sz="2000" dirty="0" err="1"/>
              <a:t>caller</a:t>
            </a:r>
            <a:r>
              <a:rPr lang="vi-VN" altLang="vi-VN" sz="2000" dirty="0"/>
              <a:t>) dễ dàng sử dụng đối tượng mà không cần phải hiểu thuật toán rối rắm bên trong nó hoạt động ra sao. Giảm sự phụ thuộc (</a:t>
            </a:r>
            <a:r>
              <a:rPr lang="vi-VN" altLang="vi-VN" sz="2000" dirty="0" err="1"/>
              <a:t>coupling</a:t>
            </a:r>
            <a:r>
              <a:rPr lang="vi-VN" altLang="vi-VN" sz="2000" dirty="0"/>
              <a:t>) giữa các </a:t>
            </a:r>
            <a:r>
              <a:rPr lang="vi-VN" altLang="vi-VN" sz="2000" dirty="0" err="1"/>
              <a:t>module</a:t>
            </a:r>
            <a:r>
              <a:rPr lang="vi-VN" altLang="vi-VN" sz="2000" dirty="0"/>
              <a:t>.</a:t>
            </a:r>
          </a:p>
        </p:txBody>
      </p:sp>
      <p:sp>
        <p:nvSpPr>
          <p:cNvPr id="5" name="TextBox 4">
            <a:extLst>
              <a:ext uri="{FF2B5EF4-FFF2-40B4-BE49-F238E27FC236}">
                <a16:creationId xmlns:a16="http://schemas.microsoft.com/office/drawing/2014/main" id="{86BD415A-6583-AD4D-BA2C-AD3005112807}"/>
              </a:ext>
            </a:extLst>
          </p:cNvPr>
          <p:cNvSpPr txBox="1"/>
          <p:nvPr/>
        </p:nvSpPr>
        <p:spPr>
          <a:xfrm>
            <a:off x="0" y="1153535"/>
            <a:ext cx="9144000" cy="26071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ts val="1425"/>
              </a:lnSpc>
              <a:buNone/>
            </a:pPr>
            <a:r>
              <a:rPr lang="en-US" sz="1400" b="0">
                <a:solidFill>
                  <a:srgbClr val="008000"/>
                </a:solidFill>
                <a:effectLst/>
                <a:latin typeface="Consolas" panose="020B0609020204030204" pitchFamily="49" charset="0"/>
              </a:rPr>
              <a:t>// Trong file AnalysisTask.java (Pseudocode)</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00FF"/>
                </a:solidFill>
                <a:effectLst/>
                <a:latin typeface="Consolas" panose="020B0609020204030204" pitchFamily="49" charset="0"/>
              </a:rPr>
              <a:t>public</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interface</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AnalysisTask</a:t>
            </a:r>
            <a:r>
              <a:rPr lang="en-US" sz="1400" b="0">
                <a:solidFill>
                  <a:srgbClr val="000000"/>
                </a:solidFill>
                <a:effectLst/>
                <a:latin typeface="Consolas" panose="020B0609020204030204" pitchFamily="49" charset="0"/>
              </a:rPr>
              <a:t>&lt;</a:t>
            </a:r>
            <a:r>
              <a:rPr lang="en-US" sz="1400" b="0">
                <a:solidFill>
                  <a:srgbClr val="267F99"/>
                </a:solidFill>
                <a:effectLst/>
                <a:latin typeface="Consolas" panose="020B0609020204030204" pitchFamily="49" charset="0"/>
              </a:rPr>
              <a:t>T</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extends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AnalysisResult</a:t>
            </a:r>
            <a:r>
              <a:rPr lang="en-US" sz="1400" b="0">
                <a:solidFill>
                  <a:srgbClr val="000000"/>
                </a:solidFill>
                <a:effectLst/>
                <a:latin typeface="Consolas" panose="020B0609020204030204" pitchFamily="49" charset="0"/>
              </a:rPr>
              <a:t>&gt; {</a:t>
            </a:r>
          </a:p>
          <a:p>
            <a:pPr>
              <a:lnSpc>
                <a:spcPts val="1425"/>
              </a:lnSpc>
              <a:buNone/>
            </a:pP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void</a:t>
            </a: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execute</a:t>
            </a:r>
            <a:r>
              <a:rPr lang="en-US" sz="1400" b="0">
                <a:solidFill>
                  <a:srgbClr val="000000"/>
                </a:solidFill>
                <a:effectLst/>
                <a:latin typeface="Consolas" panose="020B0609020204030204" pitchFamily="49" charset="0"/>
              </a:rPr>
              <a:t>(</a:t>
            </a:r>
            <a:r>
              <a:rPr lang="en-US" sz="1400" b="0">
                <a:solidFill>
                  <a:srgbClr val="267F99"/>
                </a:solidFill>
                <a:effectLst/>
                <a:latin typeface="Consolas" panose="020B0609020204030204" pitchFamily="49" charset="0"/>
              </a:rPr>
              <a:t>Post</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data</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Map</a:t>
            </a:r>
            <a:r>
              <a:rPr lang="en-US" sz="1400" b="0">
                <a:solidFill>
                  <a:srgbClr val="000000"/>
                </a:solidFill>
                <a:effectLst/>
                <a:latin typeface="Consolas" panose="020B0609020204030204" pitchFamily="49" charset="0"/>
              </a:rPr>
              <a:t>&lt;</a:t>
            </a:r>
            <a:r>
              <a:rPr lang="en-US" sz="1400" b="0">
                <a:solidFill>
                  <a:srgbClr val="267F99"/>
                </a:solidFill>
                <a:effectLst/>
                <a:latin typeface="Consolas" panose="020B0609020204030204" pitchFamily="49" charset="0"/>
              </a:rPr>
              <a:t>String</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T</a:t>
            </a:r>
            <a:r>
              <a:rPr lang="en-US" sz="1400" b="0">
                <a:solidFill>
                  <a:srgbClr val="000000"/>
                </a:solidFill>
                <a:effectLst/>
                <a:latin typeface="Consolas" panose="020B0609020204030204" pitchFamily="49" charset="0"/>
              </a:rPr>
              <a:t>&gt; </a:t>
            </a:r>
            <a:r>
              <a:rPr lang="en-US" sz="1400" b="0">
                <a:solidFill>
                  <a:srgbClr val="001080"/>
                </a:solidFill>
                <a:effectLst/>
                <a:latin typeface="Consolas" panose="020B0609020204030204" pitchFamily="49" charset="0"/>
              </a:rPr>
              <a:t>result</a:t>
            </a:r>
            <a:r>
              <a:rPr lang="en-US" sz="1400" b="0">
                <a:solidFill>
                  <a:srgbClr val="000000"/>
                </a:solidFill>
                <a:effectLst/>
                <a:latin typeface="Consolas" panose="020B0609020204030204" pitchFamily="49" charset="0"/>
              </a:rPr>
              <a:t>);</a:t>
            </a:r>
          </a:p>
          <a:p>
            <a:pPr>
              <a:lnSpc>
                <a:spcPts val="1425"/>
              </a:lnSpc>
              <a:buNone/>
            </a:pPr>
            <a:r>
              <a:rPr lang="en-US" sz="1400" b="0">
                <a:solidFill>
                  <a:srgbClr val="000000"/>
                </a:solidFill>
                <a:effectLst/>
                <a:latin typeface="Consolas" panose="020B0609020204030204" pitchFamily="49" charset="0"/>
              </a:rPr>
              <a:t>}</a:t>
            </a:r>
          </a:p>
          <a:p>
            <a:pPr>
              <a:lnSpc>
                <a:spcPts val="1425"/>
              </a:lnSpc>
              <a:buNone/>
            </a:pPr>
            <a:br>
              <a:rPr lang="en-US" sz="1400" b="0">
                <a:solidFill>
                  <a:srgbClr val="000000"/>
                </a:solidFill>
                <a:effectLst/>
                <a:latin typeface="Consolas" panose="020B0609020204030204" pitchFamily="49" charset="0"/>
              </a:rPr>
            </a:br>
            <a:endParaRPr lang="en-US" sz="1400" b="0">
              <a:solidFill>
                <a:srgbClr val="000000"/>
              </a:solidFill>
              <a:effectLst/>
              <a:latin typeface="Consolas" panose="020B0609020204030204" pitchFamily="49" charset="0"/>
            </a:endParaRPr>
          </a:p>
          <a:p>
            <a:pPr>
              <a:lnSpc>
                <a:spcPts val="1425"/>
              </a:lnSpc>
              <a:buNone/>
            </a:pPr>
            <a:r>
              <a:rPr lang="en-US" sz="1400" b="0">
                <a:solidFill>
                  <a:srgbClr val="0000FF"/>
                </a:solidFill>
                <a:effectLst/>
                <a:latin typeface="Consolas" panose="020B0609020204030204" pitchFamily="49" charset="0"/>
              </a:rPr>
              <a:t>public</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abstract</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class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BaseKeywordAnalysis</a:t>
            </a:r>
            <a:r>
              <a:rPr lang="en-US" sz="1400" b="0">
                <a:solidFill>
                  <a:srgbClr val="000000"/>
                </a:solidFill>
                <a:effectLst/>
                <a:latin typeface="Consolas" panose="020B0609020204030204" pitchFamily="49" charset="0"/>
              </a:rPr>
              <a:t> &lt;</a:t>
            </a:r>
            <a:r>
              <a:rPr lang="en-US" sz="1400" b="0">
                <a:solidFill>
                  <a:srgbClr val="267F99"/>
                </a:solidFill>
                <a:effectLst/>
                <a:latin typeface="Consolas" panose="020B0609020204030204" pitchFamily="49" charset="0"/>
              </a:rPr>
              <a:t>T</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extends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AnalysisResult</a:t>
            </a:r>
            <a:r>
              <a:rPr lang="en-US" sz="1400" b="0">
                <a:solidFill>
                  <a:srgbClr val="000000"/>
                </a:solidFill>
                <a:effectLst/>
                <a:latin typeface="Consolas" panose="020B0609020204030204" pitchFamily="49" charset="0"/>
              </a:rPr>
              <a:t>&gt; </a:t>
            </a:r>
            <a:r>
              <a:rPr lang="en-US" sz="1400" b="0">
                <a:solidFill>
                  <a:srgbClr val="0000FF"/>
                </a:solidFill>
                <a:effectLst/>
                <a:latin typeface="Consolas" panose="020B0609020204030204" pitchFamily="49" charset="0"/>
              </a:rPr>
              <a:t>implements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AnalysisTask</a:t>
            </a:r>
            <a:r>
              <a:rPr lang="en-US" sz="1400" b="0">
                <a:solidFill>
                  <a:srgbClr val="000000"/>
                </a:solidFill>
                <a:effectLst/>
                <a:latin typeface="Consolas" panose="020B0609020204030204" pitchFamily="49" charset="0"/>
              </a:rPr>
              <a:t>&lt;</a:t>
            </a:r>
            <a:r>
              <a:rPr lang="en-US" sz="1400" b="0">
                <a:solidFill>
                  <a:srgbClr val="267F99"/>
                </a:solidFill>
                <a:effectLst/>
                <a:latin typeface="Consolas" panose="020B0609020204030204" pitchFamily="49" charset="0"/>
              </a:rPr>
              <a:t>T</a:t>
            </a:r>
            <a:r>
              <a:rPr lang="en-US" sz="1400" b="0">
                <a:solidFill>
                  <a:srgbClr val="000000"/>
                </a:solidFill>
                <a:effectLst/>
                <a:latin typeface="Consolas" panose="020B0609020204030204" pitchFamily="49" charset="0"/>
              </a:rPr>
              <a:t>&gt; {</a:t>
            </a:r>
          </a:p>
          <a:p>
            <a:pPr>
              <a:lnSpc>
                <a:spcPts val="1425"/>
              </a:lnSpc>
              <a:buNone/>
            </a:pP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Override</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public</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void</a:t>
            </a: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execute</a:t>
            </a:r>
            <a:r>
              <a:rPr lang="en-US" sz="1400" b="0">
                <a:solidFill>
                  <a:srgbClr val="000000"/>
                </a:solidFill>
                <a:effectLst/>
                <a:latin typeface="Consolas" panose="020B0609020204030204" pitchFamily="49" charset="0"/>
              </a:rPr>
              <a:t>(</a:t>
            </a:r>
            <a:r>
              <a:rPr lang="en-US" sz="1400" b="0">
                <a:solidFill>
                  <a:srgbClr val="267F99"/>
                </a:solidFill>
                <a:effectLst/>
                <a:latin typeface="Consolas" panose="020B0609020204030204" pitchFamily="49" charset="0"/>
              </a:rPr>
              <a:t>Post</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p</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Map</a:t>
            </a:r>
            <a:r>
              <a:rPr lang="en-US" sz="1400" b="0">
                <a:solidFill>
                  <a:srgbClr val="000000"/>
                </a:solidFill>
                <a:effectLst/>
                <a:latin typeface="Consolas" panose="020B0609020204030204" pitchFamily="49" charset="0"/>
              </a:rPr>
              <a:t>&lt;</a:t>
            </a:r>
            <a:r>
              <a:rPr lang="en-US" sz="1400" b="0">
                <a:solidFill>
                  <a:srgbClr val="267F99"/>
                </a:solidFill>
                <a:effectLst/>
                <a:latin typeface="Consolas" panose="020B0609020204030204" pitchFamily="49" charset="0"/>
              </a:rPr>
              <a:t>String</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T</a:t>
            </a:r>
            <a:r>
              <a:rPr lang="en-US" sz="1400" b="0">
                <a:solidFill>
                  <a:srgbClr val="000000"/>
                </a:solidFill>
                <a:effectLst/>
                <a:latin typeface="Consolas" panose="020B0609020204030204" pitchFamily="49" charset="0"/>
              </a:rPr>
              <a:t>&gt; </a:t>
            </a:r>
            <a:r>
              <a:rPr lang="en-US" sz="1400" b="0">
                <a:solidFill>
                  <a:srgbClr val="001080"/>
                </a:solidFill>
                <a:effectLst/>
                <a:latin typeface="Consolas" panose="020B0609020204030204" pitchFamily="49" charset="0"/>
              </a:rPr>
              <a:t>result</a:t>
            </a:r>
            <a:r>
              <a:rPr lang="en-US" sz="1400" b="0">
                <a:solidFill>
                  <a:srgbClr val="000000"/>
                </a:solidFill>
                <a:effectLst/>
                <a:latin typeface="Consolas" panose="020B0609020204030204" pitchFamily="49" charset="0"/>
              </a:rPr>
              <a:t>) {</a:t>
            </a:r>
          </a:p>
          <a:p>
            <a:pPr>
              <a:lnSpc>
                <a:spcPts val="1425"/>
              </a:lnSpc>
              <a:buNone/>
            </a:pPr>
            <a:r>
              <a:rPr lang="en-US" sz="1400" b="0">
                <a:solidFill>
                  <a:srgbClr val="000000"/>
                </a:solidFill>
                <a:effectLst/>
                <a:latin typeface="Consolas" panose="020B0609020204030204" pitchFamily="49" charset="0"/>
              </a:rPr>
              <a:t>        </a:t>
            </a:r>
            <a:r>
              <a:rPr lang="en-US" sz="1400" b="0">
                <a:solidFill>
                  <a:srgbClr val="008000"/>
                </a:solidFill>
                <a:effectLst/>
                <a:latin typeface="Consolas" panose="020B0609020204030204" pitchFamily="49" charset="0"/>
              </a:rPr>
              <a:t>// xử lý chung</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a:t>
            </a:r>
          </a:p>
          <a:p>
            <a:pPr>
              <a:lnSpc>
                <a:spcPts val="1425"/>
              </a:lnSpc>
              <a:buNone/>
            </a:pPr>
            <a:r>
              <a:rPr lang="en-US" sz="14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029627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331FF-7367-F4F4-10DC-9F4CB4892036}"/>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3" name="Title 2">
            <a:extLst>
              <a:ext uri="{FF2B5EF4-FFF2-40B4-BE49-F238E27FC236}">
                <a16:creationId xmlns:a16="http://schemas.microsoft.com/office/drawing/2014/main" id="{CA942A98-C171-982E-551D-E59FBFEFF92E}"/>
              </a:ext>
            </a:extLst>
          </p:cNvPr>
          <p:cNvSpPr>
            <a:spLocks noGrp="1"/>
          </p:cNvSpPr>
          <p:nvPr>
            <p:ph type="title"/>
          </p:nvPr>
        </p:nvSpPr>
        <p:spPr/>
        <p:txBody>
          <a:bodyPr/>
          <a:lstStyle/>
          <a:p>
            <a:r>
              <a:rPr lang="en-US"/>
              <a:t>3.1.3. </a:t>
            </a:r>
            <a:r>
              <a:rPr lang="vi-VN"/>
              <a:t>Tính </a:t>
            </a:r>
            <a:r>
              <a:rPr lang="vi-VN" dirty="0"/>
              <a:t>Đa hình (</a:t>
            </a:r>
            <a:r>
              <a:rPr lang="vi-VN" dirty="0" err="1"/>
              <a:t>Polymorphism</a:t>
            </a:r>
            <a:r>
              <a:rPr lang="vi-VN" dirty="0"/>
              <a:t>)</a:t>
            </a:r>
            <a:endParaRPr lang="en-US" dirty="0"/>
          </a:p>
        </p:txBody>
      </p:sp>
      <p:sp>
        <p:nvSpPr>
          <p:cNvPr id="5" name="Rectangle 1">
            <a:extLst>
              <a:ext uri="{FF2B5EF4-FFF2-40B4-BE49-F238E27FC236}">
                <a16:creationId xmlns:a16="http://schemas.microsoft.com/office/drawing/2014/main" id="{B98BA972-84BE-75FF-7F6E-5AA00ACB0309}"/>
              </a:ext>
            </a:extLst>
          </p:cNvPr>
          <p:cNvSpPr>
            <a:spLocks noGrp="1" noChangeArrowheads="1"/>
          </p:cNvSpPr>
          <p:nvPr>
            <p:ph type="body" sz="quarter" idx="13"/>
          </p:nvPr>
        </p:nvSpPr>
        <p:spPr bwMode="auto">
          <a:xfrm>
            <a:off x="25064" y="3345021"/>
            <a:ext cx="890905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000" b="1" i="0" u="none" strike="noStrike" cap="none" normalizeH="0" baseline="0">
                <a:ln>
                  <a:noFill/>
                </a:ln>
                <a:solidFill>
                  <a:schemeClr val="tx1"/>
                </a:solidFill>
                <a:effectLst/>
              </a:rPr>
              <a:t> </a:t>
            </a:r>
            <a:r>
              <a:rPr kumimoji="0" lang="vi-VN" altLang="vi-VN" sz="2000" b="1" i="0" u="none" strike="noStrike" cap="none" normalizeH="0" baseline="0">
                <a:ln>
                  <a:noFill/>
                </a:ln>
                <a:solidFill>
                  <a:schemeClr val="tx1"/>
                </a:solidFill>
                <a:effectLst/>
              </a:rPr>
              <a:t>Khái </a:t>
            </a:r>
            <a:r>
              <a:rPr kumimoji="0" lang="vi-VN" altLang="vi-VN" sz="2000" b="1" i="0" u="none" strike="noStrike" cap="none" normalizeH="0" baseline="0" dirty="0">
                <a:ln>
                  <a:noFill/>
                </a:ln>
                <a:solidFill>
                  <a:schemeClr val="tx1"/>
                </a:solidFill>
                <a:effectLst/>
              </a:rPr>
              <a:t>niệm:</a:t>
            </a:r>
            <a:r>
              <a:rPr kumimoji="0" lang="vi-VN" altLang="vi-VN" sz="2000" b="0" i="0" u="none" strike="noStrike" cap="none" normalizeH="0" baseline="0" dirty="0">
                <a:ln>
                  <a:noFill/>
                </a:ln>
                <a:solidFill>
                  <a:schemeClr val="tx1"/>
                </a:solidFill>
                <a:effectLst/>
              </a:rPr>
              <a:t> Cùng một tên hàm, cùng một lệnh gọi, nhưng lại có thể thực thi các hành động khác nhau tùy thuộc vào đối tượng đang gọi nó lúc chương trình chạy (</a:t>
            </a:r>
            <a:r>
              <a:rPr kumimoji="0" lang="vi-VN" altLang="vi-VN" sz="2000" b="0" i="0" u="none" strike="noStrike" cap="none" normalizeH="0" baseline="0" dirty="0" err="1">
                <a:ln>
                  <a:noFill/>
                </a:ln>
                <a:solidFill>
                  <a:schemeClr val="tx1"/>
                </a:solidFill>
                <a:effectLst/>
              </a:rPr>
              <a:t>runtime</a:t>
            </a:r>
            <a:r>
              <a:rPr kumimoji="0" lang="vi-VN" altLang="vi-VN" sz="2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None/>
              <a:tabLst/>
            </a:pPr>
            <a:endParaRPr kumimoji="0" lang="vi-VN" altLang="vi-VN"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000" b="1" i="0" u="none" strike="noStrike" cap="none" normalizeH="0" baseline="0">
                <a:ln>
                  <a:noFill/>
                </a:ln>
                <a:solidFill>
                  <a:schemeClr val="tx1"/>
                </a:solidFill>
                <a:effectLst/>
              </a:rPr>
              <a:t> </a:t>
            </a:r>
            <a:r>
              <a:rPr kumimoji="0" lang="vi-VN" altLang="vi-VN" sz="2000" b="1" i="0" u="none" strike="noStrike" cap="none" normalizeH="0" baseline="0">
                <a:ln>
                  <a:noFill/>
                </a:ln>
                <a:solidFill>
                  <a:schemeClr val="tx1"/>
                </a:solidFill>
                <a:effectLst/>
              </a:rPr>
              <a:t>Mục </a:t>
            </a:r>
            <a:r>
              <a:rPr kumimoji="0" lang="vi-VN" altLang="vi-VN" sz="2000" b="1" i="0" u="none" strike="noStrike" cap="none" normalizeH="0" baseline="0" dirty="0">
                <a:ln>
                  <a:noFill/>
                </a:ln>
                <a:solidFill>
                  <a:schemeClr val="tx1"/>
                </a:solidFill>
                <a:effectLst/>
              </a:rPr>
              <a:t>đích:</a:t>
            </a:r>
            <a:r>
              <a:rPr kumimoji="0" lang="vi-VN" altLang="vi-VN" sz="2000" b="0" i="0" u="none" strike="noStrike" cap="none" normalizeH="0" baseline="0" dirty="0">
                <a:ln>
                  <a:noFill/>
                </a:ln>
                <a:solidFill>
                  <a:schemeClr val="tx1"/>
                </a:solidFill>
                <a:effectLst/>
              </a:rPr>
              <a:t> Giúp </a:t>
            </a:r>
            <a:r>
              <a:rPr kumimoji="0" lang="vi-VN" altLang="vi-VN" sz="2000" b="0" i="0" u="none" strike="noStrike" cap="none" normalizeH="0" baseline="0" dirty="0" err="1">
                <a:ln>
                  <a:noFill/>
                </a:ln>
                <a:solidFill>
                  <a:schemeClr val="tx1"/>
                </a:solidFill>
                <a:effectLst/>
              </a:rPr>
              <a:t>code</a:t>
            </a:r>
            <a:r>
              <a:rPr kumimoji="0" lang="vi-VN" altLang="vi-VN" sz="2000" b="0" i="0" u="none" strike="noStrike" cap="none" normalizeH="0" baseline="0" dirty="0">
                <a:ln>
                  <a:noFill/>
                </a:ln>
                <a:solidFill>
                  <a:schemeClr val="tx1"/>
                </a:solidFill>
                <a:effectLst/>
              </a:rPr>
              <a:t> linh hoạt, dễ mở rộng. Bạn có thể gọi chung một phương thức cho hàng loạt đối tượng khác nhau mà không cần dùng cả chục câu lệnh </a:t>
            </a:r>
            <a:r>
              <a:rPr kumimoji="0" lang="vi-VN" altLang="vi-VN" sz="2000" b="0" i="0" u="none" strike="noStrike" cap="none" normalizeH="0" baseline="0" dirty="0" err="1">
                <a:ln>
                  <a:noFill/>
                </a:ln>
                <a:solidFill>
                  <a:schemeClr val="tx1"/>
                </a:solidFill>
                <a:effectLst/>
              </a:rPr>
              <a:t>if-else</a:t>
            </a:r>
            <a:endParaRPr kumimoji="0" lang="vi-VN" altLang="vi-VN" sz="2000" b="0" i="0" u="none" strike="noStrike" cap="none" normalizeH="0" baseline="0" dirty="0">
              <a:ln>
                <a:noFill/>
              </a:ln>
              <a:solidFill>
                <a:schemeClr val="tx1"/>
              </a:solidFill>
              <a:effectLst/>
            </a:endParaRPr>
          </a:p>
        </p:txBody>
      </p:sp>
      <p:sp>
        <p:nvSpPr>
          <p:cNvPr id="7" name="TextBox 6">
            <a:extLst>
              <a:ext uri="{FF2B5EF4-FFF2-40B4-BE49-F238E27FC236}">
                <a16:creationId xmlns:a16="http://schemas.microsoft.com/office/drawing/2014/main" id="{CEEABCD7-3D39-D53D-AC53-A6264B87471A}"/>
              </a:ext>
            </a:extLst>
          </p:cNvPr>
          <p:cNvSpPr txBox="1"/>
          <p:nvPr/>
        </p:nvSpPr>
        <p:spPr>
          <a:xfrm>
            <a:off x="0" y="1116921"/>
            <a:ext cx="9144000" cy="188897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ts val="1425"/>
              </a:lnSpc>
              <a:buNone/>
            </a:pPr>
            <a:r>
              <a:rPr lang="en-US" sz="1400" b="0">
                <a:solidFill>
                  <a:srgbClr val="008000"/>
                </a:solidFill>
                <a:effectLst/>
                <a:latin typeface="Consolas" panose="020B0609020204030204" pitchFamily="49" charset="0"/>
              </a:rPr>
              <a:t>// Trong file DataService.java (Pseudocode)</a:t>
            </a:r>
            <a:endParaRPr lang="en-US" sz="1400" b="0">
              <a:solidFill>
                <a:srgbClr val="000000"/>
              </a:solidFill>
              <a:effectLst/>
              <a:latin typeface="Consolas" panose="020B0609020204030204" pitchFamily="49" charset="0"/>
            </a:endParaRPr>
          </a:p>
          <a:p>
            <a:pPr>
              <a:lnSpc>
                <a:spcPts val="1425"/>
              </a:lnSpc>
              <a:buNone/>
            </a:pPr>
            <a:br>
              <a:rPr lang="en-US" sz="1400" b="0">
                <a:solidFill>
                  <a:srgbClr val="000000"/>
                </a:solidFill>
                <a:effectLst/>
                <a:latin typeface="Consolas" panose="020B0609020204030204" pitchFamily="49" charset="0"/>
              </a:rPr>
            </a:br>
            <a:endParaRPr lang="en-US" sz="1400" b="0">
              <a:solidFill>
                <a:srgbClr val="000000"/>
              </a:solidFill>
              <a:effectLst/>
              <a:latin typeface="Consolas" panose="020B0609020204030204" pitchFamily="49" charset="0"/>
            </a:endParaRPr>
          </a:p>
          <a:p>
            <a:pPr>
              <a:lnSpc>
                <a:spcPts val="1425"/>
              </a:lnSpc>
              <a:buNone/>
            </a:pPr>
            <a:r>
              <a:rPr lang="en-US" sz="1400" b="0">
                <a:solidFill>
                  <a:srgbClr val="267F99"/>
                </a:solidFill>
                <a:effectLst/>
                <a:latin typeface="Consolas" panose="020B0609020204030204" pitchFamily="49" charset="0"/>
              </a:rPr>
              <a:t>IDataCollector</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collector</a:t>
            </a:r>
            <a:r>
              <a:rPr lang="en-US" sz="1400" b="0">
                <a:solidFill>
                  <a:srgbClr val="000000"/>
                </a:solidFill>
                <a:effectLst/>
                <a:latin typeface="Consolas" panose="020B0609020204030204" pitchFamily="49" charset="0"/>
              </a:rPr>
              <a:t> =</a:t>
            </a:r>
          </a:p>
          <a:p>
            <a:pPr>
              <a:lnSpc>
                <a:spcPts val="1425"/>
              </a:lnSpc>
              <a:buNone/>
            </a:pP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CollectorConfig</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getCollector</a:t>
            </a:r>
            <a:r>
              <a:rPr lang="en-US" sz="1400" b="0">
                <a:solidFill>
                  <a:srgbClr val="000000"/>
                </a:solidFill>
                <a:effectLst/>
                <a:latin typeface="Consolas" panose="020B0609020204030204" pitchFamily="49" charset="0"/>
              </a:rPr>
              <a:t>(source, customFilePath);</a:t>
            </a:r>
          </a:p>
          <a:p>
            <a:pPr>
              <a:lnSpc>
                <a:spcPts val="1425"/>
              </a:lnSpc>
              <a:buNone/>
            </a:pPr>
            <a:br>
              <a:rPr lang="en-US" sz="1400" b="0">
                <a:solidFill>
                  <a:srgbClr val="000000"/>
                </a:solidFill>
                <a:effectLst/>
                <a:latin typeface="Consolas" panose="020B0609020204030204" pitchFamily="49" charset="0"/>
              </a:rPr>
            </a:br>
            <a:endParaRPr lang="en-US" sz="1400" b="0">
              <a:solidFill>
                <a:srgbClr val="000000"/>
              </a:solidFill>
              <a:effectLst/>
              <a:latin typeface="Consolas" panose="020B0609020204030204" pitchFamily="49" charset="0"/>
            </a:endParaRPr>
          </a:p>
          <a:p>
            <a:pPr>
              <a:lnSpc>
                <a:spcPts val="1425"/>
              </a:lnSpc>
              <a:buNone/>
            </a:pPr>
            <a:r>
              <a:rPr lang="en-US" sz="1400" b="0">
                <a:solidFill>
                  <a:srgbClr val="008000"/>
                </a:solidFill>
                <a:effectLst/>
                <a:latin typeface="Consolas" panose="020B0609020204030204" pitchFamily="49" charset="0"/>
              </a:rPr>
              <a:t>// Gọi hàm collect()</a:t>
            </a:r>
            <a:endParaRPr lang="en-US" sz="1400" b="0">
              <a:solidFill>
                <a:srgbClr val="000000"/>
              </a:solidFill>
              <a:effectLst/>
              <a:latin typeface="Consolas" panose="020B0609020204030204" pitchFamily="49" charset="0"/>
            </a:endParaRPr>
          </a:p>
          <a:p>
            <a:pPr>
              <a:lnSpc>
                <a:spcPts val="1425"/>
              </a:lnSpc>
              <a:buNone/>
            </a:pPr>
            <a:r>
              <a:rPr lang="en-US" sz="1400" b="0">
                <a:solidFill>
                  <a:srgbClr val="267F99"/>
                </a:solidFill>
                <a:effectLst/>
                <a:latin typeface="Consolas" panose="020B0609020204030204" pitchFamily="49" charset="0"/>
              </a:rPr>
              <a:t>List</a:t>
            </a:r>
            <a:r>
              <a:rPr lang="en-US" sz="1400" b="0">
                <a:solidFill>
                  <a:srgbClr val="000000"/>
                </a:solidFill>
                <a:effectLst/>
                <a:latin typeface="Consolas" panose="020B0609020204030204" pitchFamily="49" charset="0"/>
              </a:rPr>
              <a:t>&lt;</a:t>
            </a:r>
            <a:r>
              <a:rPr lang="en-US" sz="1400" b="0">
                <a:solidFill>
                  <a:srgbClr val="267F99"/>
                </a:solidFill>
                <a:effectLst/>
                <a:latin typeface="Consolas" panose="020B0609020204030204" pitchFamily="49" charset="0"/>
              </a:rPr>
              <a:t>Post</a:t>
            </a:r>
            <a:r>
              <a:rPr lang="en-US" sz="1400" b="0">
                <a:solidFill>
                  <a:srgbClr val="000000"/>
                </a:solidFill>
                <a:effectLst/>
                <a:latin typeface="Consolas" panose="020B0609020204030204" pitchFamily="49" charset="0"/>
              </a:rPr>
              <a:t>&gt; </a:t>
            </a:r>
            <a:r>
              <a:rPr lang="en-US" sz="1400" b="0">
                <a:solidFill>
                  <a:srgbClr val="001080"/>
                </a:solidFill>
                <a:effectLst/>
                <a:latin typeface="Consolas" panose="020B0609020204030204" pitchFamily="49" charset="0"/>
              </a:rPr>
              <a:t>rawPosts</a:t>
            </a:r>
            <a:r>
              <a:rPr lang="en-US" sz="1400" b="0">
                <a:solidFill>
                  <a:srgbClr val="000000"/>
                </a:solidFill>
                <a:effectLst/>
                <a:latin typeface="Consolas" panose="020B0609020204030204" pitchFamily="49" charset="0"/>
              </a:rPr>
              <a:t> =</a:t>
            </a:r>
          </a:p>
          <a:p>
            <a:pPr>
              <a:lnSpc>
                <a:spcPts val="1425"/>
              </a:lnSpc>
              <a:buNone/>
            </a:pP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collector</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collect</a:t>
            </a:r>
            <a:r>
              <a:rPr lang="en-US" sz="1400" b="0">
                <a:solidFill>
                  <a:srgbClr val="000000"/>
                </a:solidFill>
                <a:effectLst/>
                <a:latin typeface="Consolas" panose="020B0609020204030204" pitchFamily="49" charset="0"/>
              </a:rPr>
              <a:t>(kwList, reqStart, reqEnd);</a:t>
            </a:r>
          </a:p>
        </p:txBody>
      </p:sp>
    </p:spTree>
    <p:extLst>
      <p:ext uri="{BB962C8B-B14F-4D97-AF65-F5344CB8AC3E}">
        <p14:creationId xmlns:p14="http://schemas.microsoft.com/office/powerpoint/2010/main" val="113095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3B39F-2D62-E63D-9AA9-794B1D2191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6C9D19-9CA5-53B7-1580-5D90F5EFEEF4}"/>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3" name="Title 2">
            <a:extLst>
              <a:ext uri="{FF2B5EF4-FFF2-40B4-BE49-F238E27FC236}">
                <a16:creationId xmlns:a16="http://schemas.microsoft.com/office/drawing/2014/main" id="{105D970B-F6B9-D087-9EFD-039B0DD75933}"/>
              </a:ext>
            </a:extLst>
          </p:cNvPr>
          <p:cNvSpPr>
            <a:spLocks noGrp="1"/>
          </p:cNvSpPr>
          <p:nvPr>
            <p:ph type="title"/>
          </p:nvPr>
        </p:nvSpPr>
        <p:spPr/>
        <p:txBody>
          <a:bodyPr/>
          <a:lstStyle/>
          <a:p>
            <a:r>
              <a:rPr lang="en-US"/>
              <a:t>3.1.4. </a:t>
            </a:r>
            <a:r>
              <a:rPr lang="vi-VN"/>
              <a:t>Tính </a:t>
            </a:r>
            <a:r>
              <a:rPr lang="vi-VN" dirty="0"/>
              <a:t>Đóng gói (</a:t>
            </a:r>
            <a:r>
              <a:rPr lang="vi-VN" dirty="0" err="1"/>
              <a:t>Encapsulation</a:t>
            </a:r>
            <a:r>
              <a:rPr lang="vi-VN" dirty="0"/>
              <a:t>)</a:t>
            </a:r>
            <a:endParaRPr lang="en-US" dirty="0"/>
          </a:p>
        </p:txBody>
      </p:sp>
      <p:sp>
        <p:nvSpPr>
          <p:cNvPr id="6" name="Rectangle 2">
            <a:extLst>
              <a:ext uri="{FF2B5EF4-FFF2-40B4-BE49-F238E27FC236}">
                <a16:creationId xmlns:a16="http://schemas.microsoft.com/office/drawing/2014/main" id="{40945C1C-3651-ED87-C335-1308445F0BD6}"/>
              </a:ext>
            </a:extLst>
          </p:cNvPr>
          <p:cNvSpPr>
            <a:spLocks noGrp="1" noChangeArrowheads="1"/>
          </p:cNvSpPr>
          <p:nvPr>
            <p:ph type="body" sz="quarter" idx="13"/>
          </p:nvPr>
        </p:nvSpPr>
        <p:spPr bwMode="auto">
          <a:xfrm>
            <a:off x="1" y="3105862"/>
            <a:ext cx="914399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vi-VN" sz="2000" b="1"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000" b="1" i="0" u="none" strike="noStrike" cap="none" normalizeH="0" baseline="0">
                <a:ln>
                  <a:noFill/>
                </a:ln>
                <a:solidFill>
                  <a:schemeClr val="tx1"/>
                </a:solidFill>
                <a:effectLst/>
              </a:rPr>
              <a:t> </a:t>
            </a:r>
            <a:r>
              <a:rPr kumimoji="0" lang="vi-VN" altLang="vi-VN" sz="2000" b="1" i="0" u="none" strike="noStrike" cap="none" normalizeH="0" baseline="0">
                <a:ln>
                  <a:noFill/>
                </a:ln>
                <a:solidFill>
                  <a:schemeClr val="tx1"/>
                </a:solidFill>
                <a:effectLst/>
              </a:rPr>
              <a:t>Khái </a:t>
            </a:r>
            <a:r>
              <a:rPr kumimoji="0" lang="vi-VN" altLang="vi-VN" sz="2000" b="1" i="0" u="none" strike="noStrike" cap="none" normalizeH="0" baseline="0" dirty="0">
                <a:ln>
                  <a:noFill/>
                </a:ln>
                <a:solidFill>
                  <a:schemeClr val="tx1"/>
                </a:solidFill>
                <a:effectLst/>
              </a:rPr>
              <a:t>niệm:</a:t>
            </a:r>
            <a:r>
              <a:rPr kumimoji="0" lang="vi-VN" altLang="vi-VN" sz="2000" b="0" i="0" u="none" strike="noStrike" cap="none" normalizeH="0" baseline="0" dirty="0">
                <a:ln>
                  <a:noFill/>
                </a:ln>
                <a:solidFill>
                  <a:schemeClr val="tx1"/>
                </a:solidFill>
                <a:effectLst/>
              </a:rPr>
              <a:t> </a:t>
            </a:r>
            <a:r>
              <a:rPr lang="en-US" altLang="vi-VN" sz="2000" dirty="0" err="1"/>
              <a:t>Gom</a:t>
            </a:r>
            <a:r>
              <a:rPr lang="en-US" altLang="vi-VN" sz="2000" dirty="0"/>
              <a:t> </a:t>
            </a:r>
            <a:r>
              <a:rPr lang="en-US" altLang="vi-VN" sz="2000" dirty="0" err="1"/>
              <a:t>nhóm</a:t>
            </a:r>
            <a:r>
              <a:rPr kumimoji="0" lang="vi-VN" altLang="vi-VN" sz="2000" b="0" i="0" u="none" strike="noStrike" cap="none" normalizeH="0" baseline="0" dirty="0">
                <a:ln>
                  <a:noFill/>
                </a:ln>
                <a:solidFill>
                  <a:schemeClr val="tx1"/>
                </a:solidFill>
                <a:effectLst/>
              </a:rPr>
              <a:t> dữ liệu (thuộc tính) và các hàm xử lý dữ liệu đó vào chung một lớp. Đồng thời dùng từ khóa </a:t>
            </a:r>
            <a:r>
              <a:rPr kumimoji="0" lang="vi-VN" altLang="vi-VN" sz="2000" b="0" i="0" u="none" strike="noStrike" cap="none" normalizeH="0" baseline="0" dirty="0" err="1">
                <a:ln>
                  <a:noFill/>
                </a:ln>
                <a:solidFill>
                  <a:schemeClr val="tx1"/>
                </a:solidFill>
                <a:effectLst/>
              </a:rPr>
              <a:t>private</a:t>
            </a:r>
            <a:r>
              <a:rPr kumimoji="0" lang="vi-VN" altLang="vi-VN" sz="2000" b="0" i="0" u="none" strike="noStrike" cap="none" normalizeH="0" baseline="0" dirty="0">
                <a:ln>
                  <a:noFill/>
                </a:ln>
                <a:solidFill>
                  <a:schemeClr val="tx1"/>
                </a:solidFill>
                <a:effectLst/>
              </a:rPr>
              <a:t> để che giấu trạng thái nội bộ, cấm bên ngoài chọc thẳng vào sửa đổi dữ liệu mà phải thông qua các hàm </a:t>
            </a:r>
            <a:r>
              <a:rPr kumimoji="0" lang="vi-VN" altLang="vi-VN" sz="2000" b="0" i="0" u="none" strike="noStrike" cap="none" normalizeH="0" baseline="0" dirty="0" err="1">
                <a:ln>
                  <a:noFill/>
                </a:ln>
                <a:solidFill>
                  <a:schemeClr val="tx1"/>
                </a:solidFill>
                <a:effectLst/>
              </a:rPr>
              <a:t>getter</a:t>
            </a:r>
            <a:r>
              <a:rPr kumimoji="0" lang="vi-VN" altLang="vi-VN" sz="2000" b="0" i="0" u="none" strike="noStrike" cap="none" normalizeH="0" baseline="0" dirty="0">
                <a:ln>
                  <a:noFill/>
                </a:ln>
                <a:solidFill>
                  <a:schemeClr val="tx1"/>
                </a:solidFill>
                <a:effectLst/>
              </a:rPr>
              <a:t>/</a:t>
            </a:r>
            <a:r>
              <a:rPr kumimoji="0" lang="vi-VN" altLang="vi-VN" sz="2000" b="0" i="0" u="none" strike="noStrike" cap="none" normalizeH="0" baseline="0" dirty="0" err="1">
                <a:ln>
                  <a:noFill/>
                </a:ln>
                <a:solidFill>
                  <a:schemeClr val="tx1"/>
                </a:solidFill>
                <a:effectLst/>
              </a:rPr>
              <a:t>setter</a:t>
            </a:r>
            <a:r>
              <a:rPr kumimoji="0" lang="vi-VN" altLang="vi-VN" sz="2000" b="0" i="0" u="none" strike="noStrike" cap="none" normalizeH="0" baseline="0" dirty="0">
                <a:ln>
                  <a:noFill/>
                </a:ln>
                <a:solidFill>
                  <a:schemeClr val="tx1"/>
                </a:solidFill>
                <a:effectLst/>
              </a:rPr>
              <a:t> an </a:t>
            </a:r>
            <a:r>
              <a:rPr kumimoji="0" lang="vi-VN" altLang="vi-VN" sz="2000" b="0" i="0" u="none" strike="noStrike" cap="none" normalizeH="0" baseline="0">
                <a:ln>
                  <a:noFill/>
                </a:ln>
                <a:solidFill>
                  <a:schemeClr val="tx1"/>
                </a:solidFill>
                <a:effectLst/>
              </a:rPr>
              <a:t>toàn.</a:t>
            </a:r>
            <a:endParaRPr kumimoji="0" lang="en-US" altLang="vi-VN" sz="2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vi-VN" sz="2000" b="0" i="0" u="none" strike="noStrike" cap="none" normalizeH="0" baseline="0">
              <a:ln>
                <a:noFill/>
              </a:ln>
              <a:solidFill>
                <a:schemeClr val="tx1"/>
              </a:solidFill>
              <a:effectLst/>
            </a:endParaRPr>
          </a:p>
          <a:p>
            <a:pPr marL="0" indent="0" eaLnBrk="0" fontAlgn="base" hangingPunct="0">
              <a:lnSpc>
                <a:spcPct val="100000"/>
              </a:lnSpc>
              <a:spcBef>
                <a:spcPct val="0"/>
              </a:spcBef>
              <a:spcAft>
                <a:spcPct val="0"/>
              </a:spcAft>
              <a:buFontTx/>
              <a:buChar char="•"/>
            </a:pPr>
            <a:r>
              <a:rPr lang="en-US" altLang="vi-VN" sz="2000" b="1"/>
              <a:t> </a:t>
            </a:r>
            <a:r>
              <a:rPr lang="vi-VN" altLang="vi-VN" sz="2000" b="1"/>
              <a:t>Mục đích:</a:t>
            </a:r>
            <a:r>
              <a:rPr lang="vi-VN" altLang="vi-VN" sz="2000"/>
              <a:t> Bảo vệ dữ liệu không bị thay đổi sai quy tắc, giúp việc gỡ lỗi (debug) dễ dàng hơn vì dữ liệu chỉ bị thay đổi bởi những hàm được cho phép.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vi-VN" altLang="vi-VN"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kumimoji="0" lang="vi-VN" altLang="vi-VN" sz="2000" b="0" i="0" u="none" strike="noStrike" cap="none" normalizeH="0" baseline="0" dirty="0">
              <a:ln>
                <a:noFill/>
              </a:ln>
              <a:solidFill>
                <a:schemeClr val="tx1"/>
              </a:solidFill>
              <a:effectLst/>
            </a:endParaRPr>
          </a:p>
        </p:txBody>
      </p:sp>
      <p:sp>
        <p:nvSpPr>
          <p:cNvPr id="5" name="TextBox 4">
            <a:extLst>
              <a:ext uri="{FF2B5EF4-FFF2-40B4-BE49-F238E27FC236}">
                <a16:creationId xmlns:a16="http://schemas.microsoft.com/office/drawing/2014/main" id="{B9E1F344-7CE9-761F-EF53-68F531525E50}"/>
              </a:ext>
            </a:extLst>
          </p:cNvPr>
          <p:cNvSpPr txBox="1"/>
          <p:nvPr/>
        </p:nvSpPr>
        <p:spPr>
          <a:xfrm>
            <a:off x="0" y="1115379"/>
            <a:ext cx="9143999" cy="206851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ts val="1425"/>
              </a:lnSpc>
              <a:buNone/>
            </a:pPr>
            <a:r>
              <a:rPr lang="en-US" sz="1400" b="0">
                <a:solidFill>
                  <a:srgbClr val="008000"/>
                </a:solidFill>
                <a:effectLst/>
                <a:latin typeface="Consolas" panose="020B0609020204030204" pitchFamily="49" charset="0"/>
              </a:rPr>
              <a:t>// Bảo vệ thuộc tính nội bộ (trong BaseKeywordAnalysis.java)</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8000"/>
                </a:solidFill>
                <a:effectLst/>
                <a:latin typeface="Consolas" panose="020B0609020204030204" pitchFamily="49" charset="0"/>
              </a:rPr>
              <a:t>// Biến này bị đóng gói (private), các class khác không thể</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8000"/>
                </a:solidFill>
                <a:effectLst/>
                <a:latin typeface="Consolas" panose="020B0609020204030204" pitchFamily="49" charset="0"/>
              </a:rPr>
              <a:t>// vô tình sửa hay xóa chuỗi Regex này.</a:t>
            </a:r>
            <a:endParaRPr lang="en-US" sz="1400" b="0">
              <a:solidFill>
                <a:srgbClr val="000000"/>
              </a:solidFill>
              <a:effectLst/>
              <a:latin typeface="Consolas" panose="020B0609020204030204" pitchFamily="49" charset="0"/>
            </a:endParaRPr>
          </a:p>
          <a:p>
            <a:pPr>
              <a:lnSpc>
                <a:spcPts val="1425"/>
              </a:lnSpc>
              <a:buNone/>
            </a:pPr>
            <a:r>
              <a:rPr lang="en-US" sz="1400">
                <a:solidFill>
                  <a:srgbClr val="008000"/>
                </a:solidFill>
                <a:latin typeface="Consolas" panose="020B0609020204030204" pitchFamily="49" charset="0"/>
              </a:rPr>
              <a:t>(Pseudocode)</a:t>
            </a:r>
          </a:p>
          <a:p>
            <a:pPr>
              <a:lnSpc>
                <a:spcPts val="1425"/>
              </a:lnSpc>
              <a:buNone/>
            </a:pPr>
            <a:endParaRPr lang="en-US" sz="1400" b="0">
              <a:solidFill>
                <a:srgbClr val="000000"/>
              </a:solidFill>
              <a:effectLst/>
              <a:latin typeface="Consolas" panose="020B0609020204030204" pitchFamily="49" charset="0"/>
            </a:endParaRPr>
          </a:p>
          <a:p>
            <a:pPr>
              <a:lnSpc>
                <a:spcPts val="1425"/>
              </a:lnSpc>
              <a:buNone/>
            </a:pPr>
            <a:r>
              <a:rPr lang="en-US" sz="1400" b="0">
                <a:solidFill>
                  <a:srgbClr val="0000FF"/>
                </a:solidFill>
                <a:effectLst/>
                <a:latin typeface="Consolas" panose="020B0609020204030204" pitchFamily="49" charset="0"/>
              </a:rPr>
              <a:t>private</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static</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final</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Pattern</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NEGATION_PATTERN</a:t>
            </a:r>
            <a:r>
              <a:rPr lang="en-US" sz="1400" b="0">
                <a:solidFill>
                  <a:srgbClr val="000000"/>
                </a:solidFill>
                <a:effectLst/>
                <a:latin typeface="Consolas" panose="020B0609020204030204" pitchFamily="49" charset="0"/>
              </a:rPr>
              <a:t> =</a:t>
            </a:r>
          </a:p>
          <a:p>
            <a:pPr>
              <a:lnSpc>
                <a:spcPts val="1425"/>
              </a:lnSpc>
              <a:buNone/>
            </a:pP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Pattern</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compile</a:t>
            </a:r>
            <a:r>
              <a:rPr lang="en-US" sz="1400" b="0">
                <a:solidFill>
                  <a:srgbClr val="000000"/>
                </a:solidFill>
                <a:effectLst/>
                <a:latin typeface="Consolas" panose="020B0609020204030204" pitchFamily="49" charset="0"/>
              </a:rPr>
              <a:t>(</a:t>
            </a:r>
            <a:r>
              <a:rPr lang="en-US" sz="1400" b="0">
                <a:solidFill>
                  <a:srgbClr val="A31515"/>
                </a:solidFill>
                <a:effectLst/>
                <a:latin typeface="Consolas" panose="020B0609020204030204" pitchFamily="49" charset="0"/>
              </a:rPr>
              <a:t>"(?i)(không|chưa|chẳng|đừng)</a:t>
            </a:r>
            <a:r>
              <a:rPr lang="en-US" sz="1400" b="0">
                <a:solidFill>
                  <a:srgbClr val="EE0000"/>
                </a:solidFill>
                <a:effectLst/>
                <a:latin typeface="Consolas" panose="020B0609020204030204" pitchFamily="49" charset="0"/>
              </a:rPr>
              <a:t>\\</a:t>
            </a:r>
            <a:r>
              <a:rPr lang="en-US" sz="1400" b="0">
                <a:solidFill>
                  <a:srgbClr val="A31515"/>
                </a:solidFill>
                <a:effectLst/>
                <a:latin typeface="Consolas" panose="020B0609020204030204" pitchFamily="49" charset="0"/>
              </a:rPr>
              <a:t>s*$"</a:t>
            </a:r>
            <a:r>
              <a:rPr lang="en-US" sz="1400" b="0">
                <a:solidFill>
                  <a:srgbClr val="000000"/>
                </a:solidFill>
                <a:effectLst/>
                <a:latin typeface="Consolas" panose="020B0609020204030204" pitchFamily="49" charset="0"/>
              </a:rPr>
              <a:t>);</a:t>
            </a:r>
          </a:p>
          <a:p>
            <a:pPr>
              <a:lnSpc>
                <a:spcPts val="1425"/>
              </a:lnSpc>
              <a:buNone/>
            </a:pPr>
            <a:br>
              <a:rPr lang="en-US" sz="1400" b="0">
                <a:solidFill>
                  <a:srgbClr val="000000"/>
                </a:solidFill>
                <a:effectLst/>
                <a:latin typeface="Consolas" panose="020B0609020204030204" pitchFamily="49" charset="0"/>
              </a:rPr>
            </a:br>
            <a:endParaRPr lang="en-US" sz="1400" b="0">
              <a:solidFill>
                <a:srgbClr val="000000"/>
              </a:solidFill>
              <a:effectLst/>
              <a:latin typeface="Consolas" panose="020B0609020204030204" pitchFamily="49" charset="0"/>
            </a:endParaRPr>
          </a:p>
          <a:p>
            <a:pPr>
              <a:lnSpc>
                <a:spcPts val="1425"/>
              </a:lnSpc>
              <a:buNone/>
            </a:pPr>
            <a:r>
              <a:rPr lang="en-US" sz="1400" b="0">
                <a:solidFill>
                  <a:srgbClr val="008000"/>
                </a:solidFill>
                <a:effectLst/>
                <a:latin typeface="Consolas" panose="020B0609020204030204" pitchFamily="49" charset="0"/>
              </a:rPr>
              <a:t>// Thông qua getter/setter (trong SatisfactionAnalysis.java)</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1080"/>
                </a:solidFill>
                <a:effectLst/>
                <a:latin typeface="Consolas" panose="020B0609020204030204" pitchFamily="49" charset="0"/>
              </a:rPr>
              <a:t>sentiment</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setPositiveCount</a:t>
            </a:r>
            <a:r>
              <a:rPr lang="en-US" sz="1400" b="0">
                <a:solidFill>
                  <a:srgbClr val="000000"/>
                </a:solidFill>
                <a:effectLst/>
                <a:latin typeface="Consolas" panose="020B0609020204030204" pitchFamily="49" charset="0"/>
              </a:rPr>
              <a:t>(</a:t>
            </a:r>
            <a:r>
              <a:rPr lang="en-US" sz="1400" b="0">
                <a:solidFill>
                  <a:srgbClr val="001080"/>
                </a:solidFill>
                <a:effectLst/>
                <a:latin typeface="Consolas" panose="020B0609020204030204" pitchFamily="49" charset="0"/>
              </a:rPr>
              <a:t>sentiment</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getPositiveCount</a:t>
            </a:r>
            <a:r>
              <a:rPr lang="en-US" sz="1400" b="0">
                <a:solidFill>
                  <a:srgbClr val="000000"/>
                </a:solidFill>
                <a:effectLst/>
                <a:latin typeface="Consolas" panose="020B0609020204030204" pitchFamily="49" charset="0"/>
              </a:rPr>
              <a:t>() + posFound);</a:t>
            </a:r>
          </a:p>
        </p:txBody>
      </p:sp>
    </p:spTree>
    <p:extLst>
      <p:ext uri="{BB962C8B-B14F-4D97-AF65-F5344CB8AC3E}">
        <p14:creationId xmlns:p14="http://schemas.microsoft.com/office/powerpoint/2010/main" val="3318205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C28B8-A16D-BED7-33C7-22736278268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4441A0-2A0A-4532-46C0-B25BB3F51B83}"/>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
        <p:nvSpPr>
          <p:cNvPr id="3" name="Title 2">
            <a:extLst>
              <a:ext uri="{FF2B5EF4-FFF2-40B4-BE49-F238E27FC236}">
                <a16:creationId xmlns:a16="http://schemas.microsoft.com/office/drawing/2014/main" id="{7A242DCE-CEF6-37AB-252C-98386CF527F6}"/>
              </a:ext>
            </a:extLst>
          </p:cNvPr>
          <p:cNvSpPr>
            <a:spLocks noGrp="1"/>
          </p:cNvSpPr>
          <p:nvPr>
            <p:ph type="title"/>
          </p:nvPr>
        </p:nvSpPr>
        <p:spPr/>
        <p:txBody>
          <a:bodyPr/>
          <a:lstStyle/>
          <a:p>
            <a:r>
              <a:rPr lang="en-US"/>
              <a:t>3.2.1. </a:t>
            </a:r>
            <a:r>
              <a:rPr lang="vi-VN"/>
              <a:t>Simple </a:t>
            </a:r>
            <a:r>
              <a:rPr lang="vi-VN" dirty="0" err="1"/>
              <a:t>Factory</a:t>
            </a:r>
            <a:endParaRPr lang="en-US" dirty="0"/>
          </a:p>
        </p:txBody>
      </p:sp>
      <p:sp>
        <p:nvSpPr>
          <p:cNvPr id="4" name="Rectangle 1">
            <a:extLst>
              <a:ext uri="{FF2B5EF4-FFF2-40B4-BE49-F238E27FC236}">
                <a16:creationId xmlns:a16="http://schemas.microsoft.com/office/drawing/2014/main" id="{E0442325-82AD-EB32-5D4B-C7A16A98A92F}"/>
              </a:ext>
            </a:extLst>
          </p:cNvPr>
          <p:cNvSpPr>
            <a:spLocks noGrp="1" noChangeArrowheads="1"/>
          </p:cNvSpPr>
          <p:nvPr>
            <p:ph type="body" sz="quarter" idx="13"/>
          </p:nvPr>
        </p:nvSpPr>
        <p:spPr bwMode="auto">
          <a:xfrm>
            <a:off x="0" y="3335716"/>
            <a:ext cx="91440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000" b="1" i="0" u="none" strike="noStrike" cap="none" normalizeH="0" baseline="0">
                <a:ln>
                  <a:noFill/>
                </a:ln>
                <a:solidFill>
                  <a:schemeClr val="tx1"/>
                </a:solidFill>
                <a:effectLst/>
              </a:rPr>
              <a:t> </a:t>
            </a:r>
            <a:r>
              <a:rPr kumimoji="0" lang="vi-VN" altLang="vi-VN" sz="2000" b="1" i="0" u="none" strike="noStrike" cap="none" normalizeH="0" baseline="0">
                <a:ln>
                  <a:noFill/>
                </a:ln>
                <a:solidFill>
                  <a:schemeClr val="tx1"/>
                </a:solidFill>
                <a:effectLst/>
              </a:rPr>
              <a:t>Nơi </a:t>
            </a:r>
            <a:r>
              <a:rPr kumimoji="0" lang="vi-VN" altLang="vi-VN" sz="2000" b="1" i="0" u="none" strike="noStrike" cap="none" normalizeH="0" baseline="0" dirty="0">
                <a:ln>
                  <a:noFill/>
                </a:ln>
                <a:solidFill>
                  <a:schemeClr val="tx1"/>
                </a:solidFill>
                <a:effectLst/>
              </a:rPr>
              <a:t>áp dụng:</a:t>
            </a:r>
            <a:r>
              <a:rPr kumimoji="0" lang="vi-VN" altLang="vi-VN" sz="2000" b="0" i="0" u="none" strike="noStrike" cap="none" normalizeH="0" baseline="0" dirty="0">
                <a:ln>
                  <a:noFill/>
                </a:ln>
                <a:solidFill>
                  <a:schemeClr val="tx1"/>
                </a:solidFill>
                <a:effectLst/>
              </a:rPr>
              <a:t> Lớp </a:t>
            </a:r>
            <a:r>
              <a:rPr kumimoji="0" lang="vi-VN" altLang="vi-VN" sz="2000" b="0" i="0" u="none" strike="noStrike" cap="none" normalizeH="0" baseline="0" dirty="0" err="1">
                <a:ln>
                  <a:noFill/>
                </a:ln>
                <a:solidFill>
                  <a:schemeClr val="tx1"/>
                </a:solidFill>
                <a:effectLst/>
              </a:rPr>
              <a:t>CollectorConfig</a:t>
            </a:r>
            <a:r>
              <a:rPr kumimoji="0" lang="vi-VN" altLang="vi-VN" sz="2000" b="0" i="0" u="none" strike="noStrike" cap="none" normalizeH="0" baseline="0" dirty="0">
                <a:ln>
                  <a:noFill/>
                </a:ln>
                <a:solidFill>
                  <a:schemeClr val="tx1"/>
                </a:solidFill>
                <a:effectLst/>
              </a:rPr>
              <a:t> và hàm </a:t>
            </a:r>
            <a:r>
              <a:rPr kumimoji="0" lang="vi-VN" altLang="vi-VN" sz="2000" b="0" i="0" u="none" strike="noStrike" cap="none" normalizeH="0" baseline="0" dirty="0" err="1">
                <a:ln>
                  <a:noFill/>
                </a:ln>
                <a:solidFill>
                  <a:schemeClr val="tx1"/>
                </a:solidFill>
                <a:effectLst/>
              </a:rPr>
              <a:t>getCollector</a:t>
            </a:r>
            <a:r>
              <a:rPr kumimoji="0" lang="vi-VN" altLang="vi-VN" sz="2000" b="0" i="0" u="none" strike="noStrike" cap="none" normalizeH="0" baseline="0" dirty="0">
                <a:ln>
                  <a:noFill/>
                </a:ln>
                <a:solidFill>
                  <a:schemeClr val="tx1"/>
                </a:solidFill>
                <a:effectLst/>
              </a:rPr>
              <a:t>().</a:t>
            </a:r>
            <a:endParaRPr lang="vi-VN" altLang="vi-VN" sz="20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vi-VN" altLang="vi-VN"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000" b="1" i="0" u="none" strike="noStrike" cap="none" normalizeH="0" baseline="0">
                <a:ln>
                  <a:noFill/>
                </a:ln>
                <a:solidFill>
                  <a:schemeClr val="tx1"/>
                </a:solidFill>
                <a:effectLst/>
              </a:rPr>
              <a:t> </a:t>
            </a:r>
            <a:r>
              <a:rPr kumimoji="0" lang="vi-VN" altLang="vi-VN" sz="2000" b="1" i="0" u="none" strike="noStrike" cap="none" normalizeH="0" baseline="0">
                <a:ln>
                  <a:noFill/>
                </a:ln>
                <a:solidFill>
                  <a:schemeClr val="tx1"/>
                </a:solidFill>
                <a:effectLst/>
              </a:rPr>
              <a:t>Vấn </a:t>
            </a:r>
            <a:r>
              <a:rPr kumimoji="0" lang="vi-VN" altLang="vi-VN" sz="2000" b="1" i="0" u="none" strike="noStrike" cap="none" normalizeH="0" baseline="0" dirty="0">
                <a:ln>
                  <a:noFill/>
                </a:ln>
                <a:solidFill>
                  <a:schemeClr val="tx1"/>
                </a:solidFill>
                <a:effectLst/>
              </a:rPr>
              <a:t>đề giải quyết:</a:t>
            </a:r>
            <a:r>
              <a:rPr kumimoji="0" lang="vi-VN" altLang="vi-VN" sz="2000" b="0" i="0" u="none" strike="noStrike" cap="none" normalizeH="0" baseline="0" dirty="0">
                <a:ln>
                  <a:noFill/>
                </a:ln>
                <a:solidFill>
                  <a:schemeClr val="tx1"/>
                </a:solidFill>
                <a:effectLst/>
              </a:rPr>
              <a:t> Làm sao để tạo ra một đối tượng </a:t>
            </a:r>
            <a:r>
              <a:rPr kumimoji="0" lang="vi-VN" altLang="vi-VN" sz="2000" b="0" i="0" u="none" strike="noStrike" cap="none" normalizeH="0" baseline="0" dirty="0" err="1">
                <a:ln>
                  <a:noFill/>
                </a:ln>
                <a:solidFill>
                  <a:schemeClr val="tx1"/>
                </a:solidFill>
                <a:effectLst/>
              </a:rPr>
              <a:t>IDataCollector</a:t>
            </a:r>
            <a:r>
              <a:rPr kumimoji="0" lang="vi-VN" altLang="vi-VN" sz="2000" b="0" i="0" u="none" strike="noStrike" cap="none" normalizeH="0" baseline="0" dirty="0">
                <a:ln>
                  <a:noFill/>
                </a:ln>
                <a:solidFill>
                  <a:schemeClr val="tx1"/>
                </a:solidFill>
                <a:effectLst/>
              </a:rPr>
              <a:t> (</a:t>
            </a:r>
            <a:r>
              <a:rPr kumimoji="0" lang="vi-VN" altLang="vi-VN" sz="2000" b="0" i="0" u="none" strike="noStrike" cap="none" normalizeH="0" baseline="0" dirty="0" err="1">
                <a:ln>
                  <a:noFill/>
                </a:ln>
                <a:solidFill>
                  <a:schemeClr val="tx1"/>
                </a:solidFill>
                <a:effectLst/>
              </a:rPr>
              <a:t>VnExpress</a:t>
            </a:r>
            <a:r>
              <a:rPr kumimoji="0" lang="vi-VN" altLang="vi-VN" sz="2000" b="0" i="0" u="none" strike="noStrike" cap="none" normalizeH="0" baseline="0" dirty="0">
                <a:ln>
                  <a:noFill/>
                </a:ln>
                <a:solidFill>
                  <a:schemeClr val="tx1"/>
                </a:solidFill>
                <a:effectLst/>
              </a:rPr>
              <a:t>, </a:t>
            </a:r>
            <a:r>
              <a:rPr kumimoji="0" lang="vi-VN" altLang="vi-VN" sz="2000" b="0" i="0" u="none" strike="noStrike" cap="none" normalizeH="0" baseline="0" dirty="0" err="1">
                <a:ln>
                  <a:noFill/>
                </a:ln>
                <a:solidFill>
                  <a:schemeClr val="tx1"/>
                </a:solidFill>
                <a:effectLst/>
              </a:rPr>
              <a:t>YouTube</a:t>
            </a:r>
            <a:r>
              <a:rPr kumimoji="0" lang="vi-VN" altLang="vi-VN" sz="2000" b="0" i="0" u="none" strike="noStrike" cap="none" normalizeH="0" baseline="0" dirty="0">
                <a:ln>
                  <a:noFill/>
                </a:ln>
                <a:solidFill>
                  <a:schemeClr val="tx1"/>
                </a:solidFill>
                <a:effectLst/>
              </a:rPr>
              <a:t>, </a:t>
            </a:r>
            <a:r>
              <a:rPr kumimoji="0" lang="vi-VN" altLang="vi-VN" sz="2000" b="0" i="0" u="none" strike="noStrike" cap="none" normalizeH="0" baseline="0" dirty="0" err="1">
                <a:ln>
                  <a:noFill/>
                </a:ln>
                <a:solidFill>
                  <a:schemeClr val="tx1"/>
                </a:solidFill>
                <a:effectLst/>
              </a:rPr>
              <a:t>File</a:t>
            </a:r>
            <a:r>
              <a:rPr kumimoji="0" lang="vi-VN" altLang="vi-VN" sz="2000" b="0" i="0" u="none" strike="noStrike" cap="none" normalizeH="0" baseline="0" dirty="0">
                <a:ln>
                  <a:noFill/>
                </a:ln>
                <a:solidFill>
                  <a:schemeClr val="tx1"/>
                </a:solidFill>
                <a:effectLst/>
              </a:rPr>
              <a:t>) mà không cần để lộ </a:t>
            </a:r>
            <a:r>
              <a:rPr kumimoji="0" lang="vi-VN" altLang="vi-VN" sz="2000" b="0" i="0" u="none" strike="noStrike" cap="none" normalizeH="0" baseline="0" dirty="0" err="1">
                <a:ln>
                  <a:noFill/>
                </a:ln>
                <a:solidFill>
                  <a:schemeClr val="tx1"/>
                </a:solidFill>
                <a:effectLst/>
              </a:rPr>
              <a:t>logic</a:t>
            </a:r>
            <a:r>
              <a:rPr kumimoji="0" lang="vi-VN" altLang="vi-VN" sz="2000" b="0" i="0" u="none" strike="noStrike" cap="none" normalizeH="0" baseline="0" dirty="0">
                <a:ln>
                  <a:noFill/>
                </a:ln>
                <a:solidFill>
                  <a:schemeClr val="tx1"/>
                </a:solidFill>
                <a:effectLst/>
              </a:rPr>
              <a:t> </a:t>
            </a:r>
            <a:r>
              <a:rPr kumimoji="0" lang="vi-VN" altLang="vi-VN" sz="2000" b="0" i="0" u="none" strike="noStrike" cap="none" normalizeH="0" baseline="0" dirty="0" err="1">
                <a:ln>
                  <a:noFill/>
                </a:ln>
                <a:solidFill>
                  <a:schemeClr val="tx1"/>
                </a:solidFill>
                <a:effectLst/>
              </a:rPr>
              <a:t>if-else</a:t>
            </a:r>
            <a:r>
              <a:rPr kumimoji="0" lang="vi-VN" altLang="vi-VN" sz="2000" b="0" i="0" u="none" strike="noStrike" cap="none" normalizeH="0" baseline="0" dirty="0">
                <a:ln>
                  <a:noFill/>
                </a:ln>
                <a:solidFill>
                  <a:schemeClr val="tx1"/>
                </a:solidFill>
                <a:effectLst/>
              </a:rPr>
              <a:t> khởi tạo rườm rà ra toàn bộ hệ thống?</a:t>
            </a:r>
          </a:p>
          <a:p>
            <a:pPr marL="0" marR="0" lvl="0" indent="0" algn="l" defTabSz="914400" rtl="0" eaLnBrk="0" fontAlgn="base" latinLnBrk="0" hangingPunct="0">
              <a:lnSpc>
                <a:spcPct val="100000"/>
              </a:lnSpc>
              <a:spcBef>
                <a:spcPct val="0"/>
              </a:spcBef>
              <a:spcAft>
                <a:spcPct val="0"/>
              </a:spcAft>
              <a:buClrTx/>
              <a:buSzTx/>
              <a:buNone/>
              <a:tabLst/>
            </a:pPr>
            <a:endParaRPr kumimoji="0" lang="vi-VN" altLang="vi-VN"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000" b="1" i="0" u="none" strike="noStrike" cap="none" normalizeH="0" baseline="0">
                <a:ln>
                  <a:noFill/>
                </a:ln>
                <a:solidFill>
                  <a:schemeClr val="tx1"/>
                </a:solidFill>
                <a:effectLst/>
              </a:rPr>
              <a:t> </a:t>
            </a:r>
            <a:r>
              <a:rPr kumimoji="0" lang="vi-VN" altLang="vi-VN" sz="2000" b="1" i="0" u="none" strike="noStrike" cap="none" normalizeH="0" baseline="0">
                <a:ln>
                  <a:noFill/>
                </a:ln>
                <a:solidFill>
                  <a:schemeClr val="tx1"/>
                </a:solidFill>
                <a:effectLst/>
              </a:rPr>
              <a:t>Cách </a:t>
            </a:r>
            <a:r>
              <a:rPr lang="vi-VN" altLang="vi-VN" sz="2000" b="1" dirty="0"/>
              <a:t>nhóm</a:t>
            </a:r>
            <a:r>
              <a:rPr kumimoji="0" lang="vi-VN" altLang="vi-VN" sz="2000" b="1" i="0" u="none" strike="noStrike" cap="none" normalizeH="0" baseline="0" dirty="0">
                <a:ln>
                  <a:noFill/>
                </a:ln>
                <a:solidFill>
                  <a:schemeClr val="tx1"/>
                </a:solidFill>
                <a:effectLst/>
              </a:rPr>
              <a:t> đã làm:</a:t>
            </a:r>
            <a:r>
              <a:rPr kumimoji="0" lang="vi-VN" altLang="vi-VN" sz="2000" b="0" i="0" u="none" strike="noStrike" cap="none" normalizeH="0" baseline="0" dirty="0">
                <a:ln>
                  <a:noFill/>
                </a:ln>
                <a:solidFill>
                  <a:schemeClr val="tx1"/>
                </a:solidFill>
                <a:effectLst/>
              </a:rPr>
              <a:t> Tạo ra (</a:t>
            </a:r>
            <a:r>
              <a:rPr kumimoji="0" lang="vi-VN" altLang="vi-VN" sz="2000" b="0" i="0" u="none" strike="noStrike" cap="none" normalizeH="0" baseline="0" dirty="0" err="1">
                <a:ln>
                  <a:noFill/>
                </a:ln>
                <a:solidFill>
                  <a:schemeClr val="tx1"/>
                </a:solidFill>
                <a:effectLst/>
              </a:rPr>
              <a:t>CollectorConfig</a:t>
            </a:r>
            <a:r>
              <a:rPr kumimoji="0" lang="vi-VN" altLang="vi-VN" sz="2000" b="0" i="0" u="none" strike="noStrike" cap="none" normalizeH="0" baseline="0" dirty="0">
                <a:ln>
                  <a:noFill/>
                </a:ln>
                <a:solidFill>
                  <a:schemeClr val="tx1"/>
                </a:solidFill>
                <a:effectLst/>
              </a:rPr>
              <a:t>). Khi </a:t>
            </a:r>
            <a:r>
              <a:rPr kumimoji="0" lang="vi-VN" altLang="vi-VN" sz="2000" b="0" i="0" u="none" strike="noStrike" cap="none" normalizeH="0" baseline="0" dirty="0" err="1">
                <a:ln>
                  <a:noFill/>
                </a:ln>
                <a:solidFill>
                  <a:schemeClr val="tx1"/>
                </a:solidFill>
                <a:effectLst/>
              </a:rPr>
              <a:t>DataService</a:t>
            </a:r>
            <a:r>
              <a:rPr kumimoji="0" lang="vi-VN" altLang="vi-VN" sz="2000" b="0" i="0" u="none" strike="noStrike" cap="none" normalizeH="0" baseline="0" dirty="0">
                <a:ln>
                  <a:noFill/>
                </a:ln>
                <a:solidFill>
                  <a:schemeClr val="tx1"/>
                </a:solidFill>
                <a:effectLst/>
              </a:rPr>
              <a:t> cần một công cụ thu thập, nó không dùng từ khóa </a:t>
            </a:r>
            <a:r>
              <a:rPr kumimoji="0" lang="vi-VN" altLang="vi-VN" sz="2000" b="0" i="0" u="none" strike="noStrike" cap="none" normalizeH="0" baseline="0" dirty="0" err="1">
                <a:ln>
                  <a:noFill/>
                </a:ln>
                <a:solidFill>
                  <a:schemeClr val="tx1"/>
                </a:solidFill>
                <a:effectLst/>
              </a:rPr>
              <a:t>new</a:t>
            </a:r>
            <a:r>
              <a:rPr kumimoji="0" lang="vi-VN" altLang="vi-VN" sz="2000" b="0" i="0" u="none" strike="noStrike" cap="none" normalizeH="0" baseline="0" dirty="0">
                <a:ln>
                  <a:noFill/>
                </a:ln>
                <a:solidFill>
                  <a:schemeClr val="tx1"/>
                </a:solidFill>
                <a:effectLst/>
              </a:rPr>
              <a:t> một cách thủ công, mà nó đưa ra một cái tên. </a:t>
            </a:r>
            <a:r>
              <a:rPr lang="vi-VN" altLang="vi-VN" sz="2000" dirty="0"/>
              <a:t>Hàm</a:t>
            </a:r>
            <a:r>
              <a:rPr kumimoji="0" lang="vi-VN" altLang="vi-VN" sz="2000" b="0" i="0" u="none" strike="noStrike" cap="none" normalizeH="0" baseline="0" dirty="0">
                <a:ln>
                  <a:noFill/>
                </a:ln>
                <a:solidFill>
                  <a:schemeClr val="tx1"/>
                </a:solidFill>
                <a:effectLst/>
              </a:rPr>
              <a:t> tự sản xuất đúng công cụ đó và trả về.</a:t>
            </a:r>
          </a:p>
        </p:txBody>
      </p:sp>
      <p:sp>
        <p:nvSpPr>
          <p:cNvPr id="7" name="TextBox 6">
            <a:extLst>
              <a:ext uri="{FF2B5EF4-FFF2-40B4-BE49-F238E27FC236}">
                <a16:creationId xmlns:a16="http://schemas.microsoft.com/office/drawing/2014/main" id="{9877DF6C-DAD4-0C0B-44FB-17B0E5CB5128}"/>
              </a:ext>
            </a:extLst>
          </p:cNvPr>
          <p:cNvSpPr txBox="1"/>
          <p:nvPr/>
        </p:nvSpPr>
        <p:spPr>
          <a:xfrm>
            <a:off x="0" y="1087665"/>
            <a:ext cx="9143999" cy="224805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ts val="1425"/>
              </a:lnSpc>
              <a:buNone/>
            </a:pPr>
            <a:r>
              <a:rPr lang="en-US" sz="1400" b="0">
                <a:solidFill>
                  <a:srgbClr val="008000"/>
                </a:solidFill>
                <a:effectLst/>
                <a:latin typeface="Consolas" panose="020B0609020204030204" pitchFamily="49" charset="0"/>
              </a:rPr>
              <a:t>// ĐÂY CHÍNH LÀ FACTORY PATTERN</a:t>
            </a:r>
            <a:r>
              <a:rPr lang="en-US" sz="1400">
                <a:solidFill>
                  <a:srgbClr val="008000"/>
                </a:solidFill>
                <a:latin typeface="Consolas" panose="020B0609020204030204" pitchFamily="49" charset="0"/>
              </a:rPr>
              <a:t> (Pseudocode)</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00FF"/>
                </a:solidFill>
                <a:effectLst/>
                <a:latin typeface="Consolas" panose="020B0609020204030204" pitchFamily="49" charset="0"/>
              </a:rPr>
              <a:t>public</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static</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IDataCollector</a:t>
            </a: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getCollector</a:t>
            </a:r>
            <a:r>
              <a:rPr lang="en-US" sz="1400" b="0">
                <a:solidFill>
                  <a:srgbClr val="000000"/>
                </a:solidFill>
                <a:effectLst/>
                <a:latin typeface="Consolas" panose="020B0609020204030204" pitchFamily="49" charset="0"/>
              </a:rPr>
              <a:t>(</a:t>
            </a:r>
            <a:r>
              <a:rPr lang="en-US" sz="1400" b="0">
                <a:solidFill>
                  <a:srgbClr val="267F99"/>
                </a:solidFill>
                <a:effectLst/>
                <a:latin typeface="Consolas" panose="020B0609020204030204" pitchFamily="49" charset="0"/>
              </a:rPr>
              <a:t>String</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sourceName</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String</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customFilePath</a:t>
            </a:r>
            <a:r>
              <a:rPr lang="en-US" sz="1400" b="0">
                <a:solidFill>
                  <a:srgbClr val="000000"/>
                </a:solidFill>
                <a:effectLst/>
                <a:latin typeface="Consolas" panose="020B0609020204030204" pitchFamily="49" charset="0"/>
              </a:rPr>
              <a:t>) {</a:t>
            </a:r>
          </a:p>
          <a:p>
            <a:pPr>
              <a:lnSpc>
                <a:spcPts val="1425"/>
              </a:lnSpc>
              <a:buNone/>
            </a:pPr>
            <a:r>
              <a:rPr lang="en-US" sz="1400" b="0">
                <a:solidFill>
                  <a:srgbClr val="000000"/>
                </a:solidFill>
                <a:effectLst/>
                <a:latin typeface="Consolas" panose="020B0609020204030204" pitchFamily="49" charset="0"/>
              </a:rPr>
              <a:t>    </a:t>
            </a:r>
            <a:r>
              <a:rPr lang="en-US" sz="1400" b="0">
                <a:solidFill>
                  <a:srgbClr val="AF00DB"/>
                </a:solidFill>
                <a:effectLst/>
                <a:latin typeface="Consolas" panose="020B0609020204030204" pitchFamily="49" charset="0"/>
              </a:rPr>
              <a:t>if</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sourceName</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contains</a:t>
            </a:r>
            <a:r>
              <a:rPr lang="en-US" sz="1400" b="0">
                <a:solidFill>
                  <a:srgbClr val="000000"/>
                </a:solidFill>
                <a:effectLst/>
                <a:latin typeface="Consolas" panose="020B0609020204030204" pitchFamily="49" charset="0"/>
              </a:rPr>
              <a:t>(</a:t>
            </a:r>
            <a:r>
              <a:rPr lang="en-US" sz="1400" b="0">
                <a:solidFill>
                  <a:srgbClr val="A31515"/>
                </a:solidFill>
                <a:effectLst/>
                <a:latin typeface="Consolas" panose="020B0609020204030204" pitchFamily="49" charset="0"/>
              </a:rPr>
              <a:t>"File"</a:t>
            </a:r>
            <a:r>
              <a:rPr lang="en-US" sz="1400" b="0">
                <a:solidFill>
                  <a:srgbClr val="000000"/>
                </a:solidFill>
                <a:effectLst/>
                <a:latin typeface="Consolas" panose="020B0609020204030204" pitchFamily="49" charset="0"/>
              </a:rPr>
              <a:t>)) {</a:t>
            </a:r>
          </a:p>
          <a:p>
            <a:pPr>
              <a:lnSpc>
                <a:spcPts val="1425"/>
              </a:lnSpc>
              <a:buNone/>
            </a:pPr>
            <a:r>
              <a:rPr lang="en-US" sz="1400" b="0">
                <a:solidFill>
                  <a:srgbClr val="000000"/>
                </a:solidFill>
                <a:effectLst/>
                <a:latin typeface="Consolas" panose="020B0609020204030204" pitchFamily="49" charset="0"/>
              </a:rPr>
              <a:t>        </a:t>
            </a:r>
            <a:r>
              <a:rPr lang="en-US" sz="1400" b="0">
                <a:solidFill>
                  <a:srgbClr val="AF00DB"/>
                </a:solidFill>
                <a:effectLst/>
                <a:latin typeface="Consolas" panose="020B0609020204030204" pitchFamily="49" charset="0"/>
              </a:rPr>
              <a:t>return</a:t>
            </a:r>
            <a:r>
              <a:rPr lang="en-US" sz="1400" b="0">
                <a:solidFill>
                  <a:srgbClr val="000000"/>
                </a:solidFill>
                <a:effectLst/>
                <a:latin typeface="Consolas" panose="020B0609020204030204" pitchFamily="49" charset="0"/>
              </a:rPr>
              <a:t> </a:t>
            </a:r>
            <a:r>
              <a:rPr lang="en-US" sz="1400" b="0">
                <a:solidFill>
                  <a:srgbClr val="AF00DB"/>
                </a:solidFill>
                <a:effectLst/>
                <a:latin typeface="Consolas" panose="020B0609020204030204" pitchFamily="49" charset="0"/>
              </a:rPr>
              <a:t>new</a:t>
            </a: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FileCollector</a:t>
            </a:r>
            <a:r>
              <a:rPr lang="en-US" sz="1400" b="0">
                <a:solidFill>
                  <a:srgbClr val="000000"/>
                </a:solidFill>
                <a:effectLst/>
                <a:latin typeface="Consolas" panose="020B0609020204030204" pitchFamily="49" charset="0"/>
              </a:rPr>
              <a:t>(</a:t>
            </a:r>
            <a:r>
              <a:rPr lang="en-US" sz="1400" b="0">
                <a:solidFill>
                  <a:srgbClr val="001080"/>
                </a:solidFill>
                <a:effectLst/>
                <a:latin typeface="Consolas" panose="020B0609020204030204" pitchFamily="49" charset="0"/>
              </a:rPr>
              <a:t>customFilePath</a:t>
            </a:r>
            <a:r>
              <a:rPr lang="en-US" sz="1400" b="0">
                <a:solidFill>
                  <a:srgbClr val="000000"/>
                </a:solidFill>
                <a:effectLst/>
                <a:latin typeface="Consolas" panose="020B0609020204030204" pitchFamily="49" charset="0"/>
              </a:rPr>
              <a:t>);</a:t>
            </a:r>
          </a:p>
          <a:p>
            <a:pPr>
              <a:lnSpc>
                <a:spcPts val="1425"/>
              </a:lnSpc>
              <a:buNone/>
            </a:pPr>
            <a:r>
              <a:rPr lang="en-US" sz="1400" b="0">
                <a:solidFill>
                  <a:srgbClr val="000000"/>
                </a:solidFill>
                <a:effectLst/>
                <a:latin typeface="Consolas" panose="020B0609020204030204" pitchFamily="49" charset="0"/>
              </a:rPr>
              <a:t>    }</a:t>
            </a:r>
          </a:p>
          <a:p>
            <a:pPr>
              <a:lnSpc>
                <a:spcPts val="1425"/>
              </a:lnSpc>
              <a:buNone/>
            </a:pPr>
            <a:br>
              <a:rPr lang="en-US" sz="1400" b="0">
                <a:solidFill>
                  <a:srgbClr val="000000"/>
                </a:solidFill>
                <a:effectLst/>
                <a:latin typeface="Consolas" panose="020B0609020204030204" pitchFamily="49" charset="0"/>
              </a:rPr>
            </a:b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a:t>
            </a:r>
            <a:r>
              <a:rPr lang="en-US" sz="1400" b="0">
                <a:solidFill>
                  <a:srgbClr val="AF00DB"/>
                </a:solidFill>
                <a:effectLst/>
                <a:latin typeface="Consolas" panose="020B0609020204030204" pitchFamily="49" charset="0"/>
              </a:rPr>
              <a:t>if</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sourceName</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contains</a:t>
            </a:r>
            <a:r>
              <a:rPr lang="en-US" sz="1400" b="0">
                <a:solidFill>
                  <a:srgbClr val="000000"/>
                </a:solidFill>
                <a:effectLst/>
                <a:latin typeface="Consolas" panose="020B0609020204030204" pitchFamily="49" charset="0"/>
              </a:rPr>
              <a:t>(</a:t>
            </a:r>
            <a:r>
              <a:rPr lang="en-US" sz="1400" b="0">
                <a:solidFill>
                  <a:srgbClr val="A31515"/>
                </a:solidFill>
                <a:effectLst/>
                <a:latin typeface="Consolas" panose="020B0609020204030204" pitchFamily="49" charset="0"/>
              </a:rPr>
              <a:t>"YouTube"</a:t>
            </a:r>
            <a:r>
              <a:rPr lang="en-US" sz="1400" b="0">
                <a:solidFill>
                  <a:srgbClr val="000000"/>
                </a:solidFill>
                <a:effectLst/>
                <a:latin typeface="Consolas" panose="020B0609020204030204" pitchFamily="49" charset="0"/>
              </a:rPr>
              <a:t>)) {</a:t>
            </a:r>
          </a:p>
          <a:p>
            <a:pPr>
              <a:lnSpc>
                <a:spcPts val="1425"/>
              </a:lnSpc>
              <a:buNone/>
            </a:pPr>
            <a:r>
              <a:rPr lang="en-US" sz="1400" b="0">
                <a:solidFill>
                  <a:srgbClr val="000000"/>
                </a:solidFill>
                <a:effectLst/>
                <a:latin typeface="Consolas" panose="020B0609020204030204" pitchFamily="49" charset="0"/>
              </a:rPr>
              <a:t>        </a:t>
            </a:r>
            <a:r>
              <a:rPr lang="en-US" sz="1400" b="0">
                <a:solidFill>
                  <a:srgbClr val="AF00DB"/>
                </a:solidFill>
                <a:effectLst/>
                <a:latin typeface="Consolas" panose="020B0609020204030204" pitchFamily="49" charset="0"/>
              </a:rPr>
              <a:t>return</a:t>
            </a:r>
            <a:r>
              <a:rPr lang="en-US" sz="1400" b="0">
                <a:solidFill>
                  <a:srgbClr val="000000"/>
                </a:solidFill>
                <a:effectLst/>
                <a:latin typeface="Consolas" panose="020B0609020204030204" pitchFamily="49" charset="0"/>
              </a:rPr>
              <a:t> </a:t>
            </a:r>
            <a:r>
              <a:rPr lang="en-US" sz="1400" b="0">
                <a:solidFill>
                  <a:srgbClr val="AF00DB"/>
                </a:solidFill>
                <a:effectLst/>
                <a:latin typeface="Consolas" panose="020B0609020204030204" pitchFamily="49" charset="0"/>
              </a:rPr>
              <a:t>new</a:t>
            </a: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YouTubeCollector</a:t>
            </a:r>
            <a:r>
              <a:rPr lang="en-US" sz="1400" b="0">
                <a:solidFill>
                  <a:srgbClr val="000000"/>
                </a:solidFill>
                <a:effectLst/>
                <a:latin typeface="Consolas" panose="020B0609020204030204" pitchFamily="49" charset="0"/>
              </a:rPr>
              <a:t>();</a:t>
            </a:r>
          </a:p>
          <a:p>
            <a:pPr>
              <a:lnSpc>
                <a:spcPts val="1425"/>
              </a:lnSpc>
              <a:buNone/>
            </a:pPr>
            <a:r>
              <a:rPr lang="en-US" sz="1400" b="0">
                <a:solidFill>
                  <a:srgbClr val="000000"/>
                </a:solidFill>
                <a:effectLst/>
                <a:latin typeface="Consolas" panose="020B0609020204030204" pitchFamily="49" charset="0"/>
              </a:rPr>
              <a:t>    }</a:t>
            </a:r>
          </a:p>
          <a:p>
            <a:pPr>
              <a:lnSpc>
                <a:spcPts val="1425"/>
              </a:lnSpc>
              <a:buNone/>
            </a:pPr>
            <a:r>
              <a:rPr lang="en-US" sz="1400" b="0">
                <a:solidFill>
                  <a:srgbClr val="000000"/>
                </a:solidFill>
                <a:effectLst/>
                <a:latin typeface="Consolas" panose="020B0609020204030204" pitchFamily="49" charset="0"/>
              </a:rPr>
              <a:t>    </a:t>
            </a:r>
            <a:r>
              <a:rPr lang="en-US" sz="1400" b="0">
                <a:solidFill>
                  <a:srgbClr val="008000"/>
                </a:solidFill>
                <a:effectLst/>
                <a:latin typeface="Consolas" panose="020B0609020204030204" pitchFamily="49" charset="0"/>
              </a:rPr>
              <a:t>// ...</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416037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0396E-B3D7-397A-DF5F-9C7C431E6DB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8D418B-9BFF-0A7E-914F-5637B8E4F8AA}"/>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3" name="Title 2">
            <a:extLst>
              <a:ext uri="{FF2B5EF4-FFF2-40B4-BE49-F238E27FC236}">
                <a16:creationId xmlns:a16="http://schemas.microsoft.com/office/drawing/2014/main" id="{FC2C838B-03F6-D4F3-D98D-492C9669A940}"/>
              </a:ext>
            </a:extLst>
          </p:cNvPr>
          <p:cNvSpPr>
            <a:spLocks noGrp="1"/>
          </p:cNvSpPr>
          <p:nvPr>
            <p:ph type="title"/>
          </p:nvPr>
        </p:nvSpPr>
        <p:spPr/>
        <p:txBody>
          <a:bodyPr/>
          <a:lstStyle/>
          <a:p>
            <a:r>
              <a:rPr lang="en-US"/>
              <a:t>3.2.2. </a:t>
            </a:r>
            <a:r>
              <a:rPr lang="vi-VN"/>
              <a:t>Template </a:t>
            </a:r>
            <a:r>
              <a:rPr lang="vi-VN" dirty="0" err="1"/>
              <a:t>Method</a:t>
            </a:r>
            <a:endParaRPr lang="en-US" dirty="0"/>
          </a:p>
        </p:txBody>
      </p:sp>
      <p:sp>
        <p:nvSpPr>
          <p:cNvPr id="4" name="Rectangle 1">
            <a:extLst>
              <a:ext uri="{FF2B5EF4-FFF2-40B4-BE49-F238E27FC236}">
                <a16:creationId xmlns:a16="http://schemas.microsoft.com/office/drawing/2014/main" id="{4D587B1D-1707-DECA-47B1-0207E8519B35}"/>
              </a:ext>
            </a:extLst>
          </p:cNvPr>
          <p:cNvSpPr>
            <a:spLocks noGrp="1" noChangeArrowheads="1"/>
          </p:cNvSpPr>
          <p:nvPr>
            <p:ph type="body" sz="quarter" idx="13"/>
          </p:nvPr>
        </p:nvSpPr>
        <p:spPr bwMode="auto">
          <a:xfrm>
            <a:off x="78143" y="1136749"/>
            <a:ext cx="4148363"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2000" b="1" i="0" u="none" strike="noStrike" cap="none" normalizeH="0" baseline="0" dirty="0">
                <a:ln>
                  <a:noFill/>
                </a:ln>
                <a:solidFill>
                  <a:schemeClr val="tx1"/>
                </a:solidFill>
                <a:effectLst/>
              </a:rPr>
              <a:t>Nơi áp dụng:</a:t>
            </a:r>
            <a:r>
              <a:rPr kumimoji="0" lang="vi-VN" altLang="vi-VN" sz="2000" b="0" i="0" u="none" strike="noStrike" cap="none" normalizeH="0" baseline="0" dirty="0">
                <a:ln>
                  <a:noFill/>
                </a:ln>
                <a:solidFill>
                  <a:schemeClr val="tx1"/>
                </a:solidFill>
                <a:effectLst/>
              </a:rPr>
              <a:t> Lớp </a:t>
            </a:r>
            <a:r>
              <a:rPr kumimoji="0" lang="vi-VN" altLang="vi-VN" sz="2000" b="0" i="0" u="none" strike="noStrike" cap="none" normalizeH="0" baseline="0" dirty="0" err="1">
                <a:ln>
                  <a:noFill/>
                </a:ln>
                <a:solidFill>
                  <a:schemeClr val="tx1"/>
                </a:solidFill>
                <a:effectLst/>
              </a:rPr>
              <a:t>abstract</a:t>
            </a:r>
            <a:r>
              <a:rPr kumimoji="0" lang="vi-VN" altLang="vi-VN" sz="2000" b="0" i="0" u="none" strike="noStrike" cap="none" normalizeH="0" baseline="0" dirty="0">
                <a:ln>
                  <a:noFill/>
                </a:ln>
                <a:solidFill>
                  <a:schemeClr val="tx1"/>
                </a:solidFill>
                <a:effectLst/>
              </a:rPr>
              <a:t> </a:t>
            </a:r>
            <a:r>
              <a:rPr kumimoji="0" lang="vi-VN" altLang="vi-VN" sz="2000" b="0" i="0" u="none" strike="noStrike" cap="none" normalizeH="0" baseline="0" dirty="0" err="1">
                <a:ln>
                  <a:noFill/>
                </a:ln>
                <a:solidFill>
                  <a:schemeClr val="tx1"/>
                </a:solidFill>
                <a:effectLst/>
              </a:rPr>
              <a:t>BaseKeywordAnalysis</a:t>
            </a:r>
            <a:r>
              <a:rPr kumimoji="0" lang="vi-VN" altLang="vi-VN" sz="2000" b="0" i="0" u="none" strike="noStrike" cap="none" normalizeH="0" baseline="0" dirty="0">
                <a:ln>
                  <a:noFill/>
                </a:ln>
                <a:solidFill>
                  <a:schemeClr val="tx1"/>
                </a:solidFill>
                <a:effectLst/>
              </a:rPr>
              <a:t> và các lớp con như </a:t>
            </a:r>
            <a:r>
              <a:rPr kumimoji="0" lang="vi-VN" altLang="vi-VN" sz="2000" b="0" i="0" u="none" strike="noStrike" cap="none" normalizeH="0" baseline="0" dirty="0" err="1">
                <a:ln>
                  <a:noFill/>
                </a:ln>
                <a:solidFill>
                  <a:schemeClr val="tx1"/>
                </a:solidFill>
                <a:effectLst/>
              </a:rPr>
              <a:t>SatisfactionAnalysis</a:t>
            </a:r>
            <a:r>
              <a:rPr kumimoji="0" lang="vi-VN" altLang="vi-VN" sz="2000" b="0" i="0" u="none" strike="noStrike" cap="none" normalizeH="0" baseline="0" dirty="0">
                <a:ln>
                  <a:noFill/>
                </a:ln>
                <a:solidFill>
                  <a:schemeClr val="tx1"/>
                </a:solidFill>
                <a:effectLst/>
              </a:rPr>
              <a:t>, </a:t>
            </a:r>
            <a:r>
              <a:rPr kumimoji="0" lang="vi-VN" altLang="vi-VN" sz="2000" b="0" i="0" u="none" strike="noStrike" cap="none" normalizeH="0" baseline="0" dirty="0" err="1">
                <a:ln>
                  <a:noFill/>
                </a:ln>
                <a:solidFill>
                  <a:schemeClr val="tx1"/>
                </a:solidFill>
                <a:effectLst/>
              </a:rPr>
              <a:t>LocationAnalysis</a:t>
            </a:r>
            <a:r>
              <a:rPr kumimoji="0" lang="vi-VN" altLang="vi-VN" sz="2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vi-VN" altLang="vi-VN"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2000" b="1" i="0" u="none" strike="noStrike" cap="none" normalizeH="0" baseline="0" dirty="0">
                <a:ln>
                  <a:noFill/>
                </a:ln>
                <a:solidFill>
                  <a:schemeClr val="tx1"/>
                </a:solidFill>
                <a:effectLst/>
              </a:rPr>
              <a:t>Vấn đề giải quyết:</a:t>
            </a:r>
            <a:r>
              <a:rPr kumimoji="0" lang="vi-VN" altLang="vi-VN" sz="2000" b="0" i="0" u="none" strike="noStrike" cap="none" normalizeH="0" baseline="0" dirty="0">
                <a:ln>
                  <a:noFill/>
                </a:ln>
                <a:solidFill>
                  <a:schemeClr val="tx1"/>
                </a:solidFill>
                <a:effectLst/>
              </a:rPr>
              <a:t> Lấy nội dung gốc -&gt; Nối với nội dung đã làm sạch -&gt; Phân tích -&gt; Phân tích tiếp các bình luận (</a:t>
            </a:r>
            <a:r>
              <a:rPr kumimoji="0" lang="vi-VN" altLang="vi-VN" sz="2000" b="0" i="0" u="none" strike="noStrike" cap="none" normalizeH="0" baseline="0" dirty="0" err="1">
                <a:ln>
                  <a:noFill/>
                </a:ln>
                <a:solidFill>
                  <a:schemeClr val="tx1"/>
                </a:solidFill>
                <a:effectLst/>
              </a:rPr>
              <a:t>comments</a:t>
            </a:r>
            <a:r>
              <a:rPr kumimoji="0" lang="vi-VN" altLang="vi-VN" sz="20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vi-VN" altLang="vi-VN"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vi-VN" altLang="vi-VN" sz="2000" b="1" i="0" u="none" strike="noStrike" cap="none" normalizeH="0" baseline="0" dirty="0">
                <a:ln>
                  <a:noFill/>
                </a:ln>
                <a:solidFill>
                  <a:schemeClr val="tx1"/>
                </a:solidFill>
                <a:effectLst/>
              </a:rPr>
              <a:t>Cách nhóm đã làm:</a:t>
            </a:r>
            <a:r>
              <a:rPr kumimoji="0" lang="vi-VN" altLang="vi-VN" sz="2000" b="0" i="0" u="none" strike="noStrike" cap="none" normalizeH="0" baseline="0" dirty="0">
                <a:ln>
                  <a:noFill/>
                </a:ln>
                <a:solidFill>
                  <a:schemeClr val="tx1"/>
                </a:solidFill>
                <a:effectLst/>
              </a:rPr>
              <a:t> </a:t>
            </a:r>
            <a:r>
              <a:rPr lang="vi-VN" altLang="vi-VN" sz="2000" dirty="0"/>
              <a:t>Đ</a:t>
            </a:r>
            <a:r>
              <a:rPr kumimoji="0" lang="vi-VN" altLang="vi-VN" sz="2000" b="0" i="0" u="none" strike="noStrike" cap="none" normalizeH="0" baseline="0" dirty="0">
                <a:ln>
                  <a:noFill/>
                </a:ln>
                <a:solidFill>
                  <a:schemeClr val="tx1"/>
                </a:solidFill>
                <a:effectLst/>
              </a:rPr>
              <a:t>ịnh nghĩa một "bộ khung" vững chắc ở lớp cha (hàm </a:t>
            </a:r>
            <a:r>
              <a:rPr kumimoji="0" lang="vi-VN" altLang="vi-VN" sz="2000" b="0" i="0" u="none" strike="noStrike" cap="none" normalizeH="0" baseline="0" dirty="0" err="1">
                <a:ln>
                  <a:noFill/>
                </a:ln>
                <a:solidFill>
                  <a:schemeClr val="tx1"/>
                </a:solidFill>
                <a:effectLst/>
              </a:rPr>
              <a:t>execute</a:t>
            </a:r>
            <a:r>
              <a:rPr kumimoji="0" lang="vi-VN" altLang="vi-VN" sz="2000" b="0" i="0" u="none" strike="noStrike" cap="none" normalizeH="0" baseline="0" dirty="0">
                <a:ln>
                  <a:noFill/>
                </a:ln>
                <a:solidFill>
                  <a:schemeClr val="tx1"/>
                </a:solidFill>
                <a:effectLst/>
              </a:rPr>
              <a:t>). Sau đó, (hàm </a:t>
            </a:r>
            <a:r>
              <a:rPr kumimoji="0" lang="vi-VN" altLang="vi-VN" sz="2000" b="0" i="0" u="none" strike="noStrike" cap="none" normalizeH="0" baseline="0" dirty="0" err="1">
                <a:ln>
                  <a:noFill/>
                </a:ln>
                <a:solidFill>
                  <a:schemeClr val="tx1"/>
                </a:solidFill>
                <a:effectLst/>
              </a:rPr>
              <a:t>abstract</a:t>
            </a:r>
            <a:r>
              <a:rPr kumimoji="0" lang="vi-VN" altLang="vi-VN" sz="2000" b="0" i="0" u="none" strike="noStrike" cap="none" normalizeH="0" baseline="0" dirty="0">
                <a:ln>
                  <a:noFill/>
                </a:ln>
                <a:solidFill>
                  <a:schemeClr val="tx1"/>
                </a:solidFill>
                <a:effectLst/>
              </a:rPr>
              <a:t> </a:t>
            </a:r>
            <a:r>
              <a:rPr kumimoji="0" lang="vi-VN" altLang="vi-VN" sz="2000" b="0" i="0" u="none" strike="noStrike" cap="none" normalizeH="0" baseline="0" dirty="0" err="1">
                <a:ln>
                  <a:noFill/>
                </a:ln>
                <a:solidFill>
                  <a:schemeClr val="tx1"/>
                </a:solidFill>
                <a:effectLst/>
              </a:rPr>
              <a:t>processContent</a:t>
            </a:r>
            <a:r>
              <a:rPr kumimoji="0" lang="vi-VN" altLang="vi-VN" sz="2000" b="0" i="0" u="none" strike="noStrike" cap="none" normalizeH="0" baseline="0" dirty="0">
                <a:ln>
                  <a:noFill/>
                </a:ln>
                <a:solidFill>
                  <a:schemeClr val="tx1"/>
                </a:solidFill>
                <a:effectLst/>
              </a:rPr>
              <a:t>) và ép các lớp con phải điền </a:t>
            </a:r>
            <a:r>
              <a:rPr kumimoji="0" lang="vi-VN" altLang="vi-VN" sz="2000" b="0" i="0" u="none" strike="noStrike" cap="none" normalizeH="0" baseline="0" dirty="0" err="1">
                <a:ln>
                  <a:noFill/>
                </a:ln>
                <a:solidFill>
                  <a:schemeClr val="tx1"/>
                </a:solidFill>
                <a:effectLst/>
              </a:rPr>
              <a:t>logic</a:t>
            </a:r>
            <a:r>
              <a:rPr kumimoji="0" lang="vi-VN" altLang="vi-VN" sz="2000" b="0" i="0" u="none" strike="noStrike" cap="none" normalizeH="0" baseline="0" dirty="0">
                <a:ln>
                  <a:noFill/>
                </a:ln>
                <a:solidFill>
                  <a:schemeClr val="tx1"/>
                </a:solidFill>
                <a:effectLst/>
              </a:rPr>
              <a:t> riêng của chúng</a:t>
            </a:r>
          </a:p>
        </p:txBody>
      </p:sp>
      <p:sp>
        <p:nvSpPr>
          <p:cNvPr id="7" name="TextBox 6">
            <a:extLst>
              <a:ext uri="{FF2B5EF4-FFF2-40B4-BE49-F238E27FC236}">
                <a16:creationId xmlns:a16="http://schemas.microsoft.com/office/drawing/2014/main" id="{2F33CB5E-F086-4940-3FB5-AA94D5075332}"/>
              </a:ext>
            </a:extLst>
          </p:cNvPr>
          <p:cNvSpPr txBox="1"/>
          <p:nvPr/>
        </p:nvSpPr>
        <p:spPr>
          <a:xfrm>
            <a:off x="4068147" y="1212411"/>
            <a:ext cx="5075853" cy="494109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ts val="1425"/>
              </a:lnSpc>
              <a:buNone/>
            </a:pPr>
            <a:r>
              <a:rPr lang="en-US" sz="1400">
                <a:solidFill>
                  <a:srgbClr val="008000"/>
                </a:solidFill>
                <a:latin typeface="Consolas" panose="020B0609020204030204" pitchFamily="49" charset="0"/>
              </a:rPr>
              <a:t>(Pseudocode)</a:t>
            </a:r>
            <a:endParaRPr lang="en-US" sz="1400" b="0">
              <a:solidFill>
                <a:srgbClr val="0000FF"/>
              </a:solidFill>
              <a:effectLst/>
              <a:latin typeface="Consolas" panose="020B0609020204030204" pitchFamily="49" charset="0"/>
            </a:endParaRPr>
          </a:p>
          <a:p>
            <a:pPr>
              <a:lnSpc>
                <a:spcPts val="1425"/>
              </a:lnSpc>
              <a:buNone/>
            </a:pPr>
            <a:r>
              <a:rPr lang="en-US" sz="1400" b="0">
                <a:solidFill>
                  <a:srgbClr val="0000FF"/>
                </a:solidFill>
                <a:effectLst/>
                <a:latin typeface="Consolas" panose="020B0609020204030204" pitchFamily="49" charset="0"/>
              </a:rPr>
              <a:t>public</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abstract</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class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BaseKeywordAnalysis</a:t>
            </a:r>
            <a:r>
              <a:rPr lang="en-US" sz="1400" b="0">
                <a:solidFill>
                  <a:srgbClr val="000000"/>
                </a:solidFill>
                <a:effectLst/>
                <a:latin typeface="Consolas" panose="020B0609020204030204" pitchFamily="49" charset="0"/>
              </a:rPr>
              <a:t>&lt;</a:t>
            </a:r>
            <a:r>
              <a:rPr lang="en-US" sz="1400" b="0">
                <a:solidFill>
                  <a:srgbClr val="267F99"/>
                </a:solidFill>
                <a:effectLst/>
                <a:latin typeface="Consolas" panose="020B0609020204030204" pitchFamily="49" charset="0"/>
              </a:rPr>
              <a:t>T</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extends</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AnalysisResult</a:t>
            </a:r>
            <a:r>
              <a:rPr lang="en-US" sz="1400" b="0">
                <a:solidFill>
                  <a:srgbClr val="000000"/>
                </a:solidFill>
                <a:effectLst/>
                <a:latin typeface="Consolas" panose="020B0609020204030204" pitchFamily="49" charset="0"/>
              </a:rPr>
              <a:t>&gt; {</a:t>
            </a:r>
          </a:p>
          <a:p>
            <a:pPr>
              <a:lnSpc>
                <a:spcPts val="1425"/>
              </a:lnSpc>
              <a:buNone/>
            </a:pPr>
            <a:r>
              <a:rPr lang="en-US" sz="1400" b="0">
                <a:solidFill>
                  <a:srgbClr val="000000"/>
                </a:solidFill>
                <a:effectLst/>
                <a:latin typeface="Consolas" panose="020B0609020204030204" pitchFamily="49" charset="0"/>
              </a:rPr>
              <a:t>    </a:t>
            </a:r>
            <a:r>
              <a:rPr lang="en-US" sz="1400" b="0">
                <a:solidFill>
                  <a:srgbClr val="008000"/>
                </a:solidFill>
                <a:effectLst/>
                <a:latin typeface="Consolas" panose="020B0609020204030204" pitchFamily="49" charset="0"/>
              </a:rPr>
              <a:t>// 1. Dựng bộ khung chung (Template) không ai được làm sai</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public</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void</a:t>
            </a: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execute</a:t>
            </a:r>
            <a:r>
              <a:rPr lang="en-US" sz="1400" b="0">
                <a:solidFill>
                  <a:srgbClr val="000000"/>
                </a:solidFill>
                <a:effectLst/>
                <a:latin typeface="Consolas" panose="020B0609020204030204" pitchFamily="49" charset="0"/>
              </a:rPr>
              <a:t>(</a:t>
            </a:r>
            <a:r>
              <a:rPr lang="en-US" sz="1400" b="0">
                <a:solidFill>
                  <a:srgbClr val="267F99"/>
                </a:solidFill>
                <a:effectLst/>
                <a:latin typeface="Consolas" panose="020B0609020204030204" pitchFamily="49" charset="0"/>
              </a:rPr>
              <a:t>Post</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p</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Map</a:t>
            </a:r>
            <a:r>
              <a:rPr lang="en-US" sz="1400" b="0">
                <a:solidFill>
                  <a:srgbClr val="000000"/>
                </a:solidFill>
                <a:effectLst/>
                <a:latin typeface="Consolas" panose="020B0609020204030204" pitchFamily="49" charset="0"/>
              </a:rPr>
              <a:t>&lt;</a:t>
            </a:r>
            <a:r>
              <a:rPr lang="en-US" sz="1400" b="0">
                <a:solidFill>
                  <a:srgbClr val="267F99"/>
                </a:solidFill>
                <a:effectLst/>
                <a:latin typeface="Consolas" panose="020B0609020204030204" pitchFamily="49" charset="0"/>
              </a:rPr>
              <a:t>String</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T</a:t>
            </a:r>
            <a:r>
              <a:rPr lang="en-US" sz="1400" b="0">
                <a:solidFill>
                  <a:srgbClr val="000000"/>
                </a:solidFill>
                <a:effectLst/>
                <a:latin typeface="Consolas" panose="020B0609020204030204" pitchFamily="49" charset="0"/>
              </a:rPr>
              <a:t>&gt; </a:t>
            </a:r>
            <a:r>
              <a:rPr lang="en-US" sz="1400" b="0">
                <a:solidFill>
                  <a:srgbClr val="001080"/>
                </a:solidFill>
                <a:effectLst/>
                <a:latin typeface="Consolas" panose="020B0609020204030204" pitchFamily="49" charset="0"/>
              </a:rPr>
              <a:t>result</a:t>
            </a:r>
            <a:r>
              <a:rPr lang="en-US" sz="1400" b="0">
                <a:solidFill>
                  <a:srgbClr val="000000"/>
                </a:solidFill>
                <a:effectLst/>
                <a:latin typeface="Consolas" panose="020B0609020204030204" pitchFamily="49" charset="0"/>
              </a:rPr>
              <a:t>) {</a:t>
            </a:r>
          </a:p>
          <a:p>
            <a:pPr>
              <a:lnSpc>
                <a:spcPts val="1425"/>
              </a:lnSpc>
              <a:buNone/>
            </a:pP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String</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contentToAnalyze</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 </a:t>
            </a:r>
            <a:r>
              <a:rPr lang="en-US" sz="1400" b="0">
                <a:solidFill>
                  <a:srgbClr val="001080"/>
                </a:solidFill>
                <a:effectLst/>
                <a:latin typeface="Consolas" panose="020B0609020204030204" pitchFamily="49" charset="0"/>
              </a:rPr>
              <a:t>p</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getCleanContent</a:t>
            </a:r>
            <a:r>
              <a:rPr lang="en-US" sz="1400" b="0">
                <a:solidFill>
                  <a:srgbClr val="000000"/>
                </a:solidFill>
                <a:effectLst/>
                <a:latin typeface="Consolas" panose="020B0609020204030204" pitchFamily="49" charset="0"/>
              </a:rPr>
              <a:t>() + </a:t>
            </a:r>
            <a:r>
              <a:rPr lang="en-US" sz="1400" b="0">
                <a:solidFill>
                  <a:srgbClr val="A31515"/>
                </a:solidFill>
                <a:effectLst/>
                <a:latin typeface="Consolas" panose="020B0609020204030204" pitchFamily="49" charset="0"/>
              </a:rPr>
              <a:t>" "</a:t>
            </a:r>
            <a:r>
              <a:rPr lang="en-US" sz="1400" b="0">
                <a:solidFill>
                  <a:srgbClr val="000000"/>
                </a:solidFill>
                <a:effectLst/>
                <a:latin typeface="Consolas" panose="020B0609020204030204" pitchFamily="49" charset="0"/>
              </a:rPr>
              <a:t> + </a:t>
            </a:r>
            <a:r>
              <a:rPr lang="en-US" sz="1400" b="0">
                <a:solidFill>
                  <a:srgbClr val="001080"/>
                </a:solidFill>
                <a:effectLst/>
                <a:latin typeface="Consolas" panose="020B0609020204030204" pitchFamily="49" charset="0"/>
              </a:rPr>
              <a:t>p</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getRawContent</a:t>
            </a:r>
            <a:r>
              <a:rPr lang="en-US" sz="1400" b="0">
                <a:solidFill>
                  <a:srgbClr val="000000"/>
                </a:solidFill>
                <a:effectLst/>
                <a:latin typeface="Consolas" panose="020B0609020204030204" pitchFamily="49" charset="0"/>
              </a:rPr>
              <a:t>();</a:t>
            </a:r>
          </a:p>
          <a:p>
            <a:pPr>
              <a:lnSpc>
                <a:spcPts val="1425"/>
              </a:lnSpc>
              <a:buNone/>
            </a:pPr>
            <a:br>
              <a:rPr lang="en-US" sz="1400" b="0">
                <a:solidFill>
                  <a:srgbClr val="000000"/>
                </a:solidFill>
                <a:effectLst/>
                <a:latin typeface="Consolas" panose="020B0609020204030204" pitchFamily="49" charset="0"/>
              </a:rPr>
            </a:b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a:t>
            </a:r>
            <a:r>
              <a:rPr lang="en-US" sz="1400" b="0">
                <a:solidFill>
                  <a:srgbClr val="008000"/>
                </a:solidFill>
                <a:effectLst/>
                <a:latin typeface="Consolas" panose="020B0609020204030204" pitchFamily="49" charset="0"/>
              </a:rPr>
              <a:t>// Gọi hàm trừu tượng để lớp con tự xử lý logic lõi</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processContent</a:t>
            </a:r>
            <a:r>
              <a:rPr lang="en-US" sz="1400" b="0">
                <a:solidFill>
                  <a:srgbClr val="000000"/>
                </a:solidFill>
                <a:effectLst/>
                <a:latin typeface="Consolas" panose="020B0609020204030204" pitchFamily="49" charset="0"/>
              </a:rPr>
              <a:t>(</a:t>
            </a:r>
            <a:r>
              <a:rPr lang="en-US" sz="1400" b="0">
                <a:solidFill>
                  <a:srgbClr val="001080"/>
                </a:solidFill>
                <a:effectLst/>
                <a:latin typeface="Consolas" panose="020B0609020204030204" pitchFamily="49" charset="0"/>
              </a:rPr>
              <a:t>contentToAnalyze</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p</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getTimestamp</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result</a:t>
            </a:r>
            <a:r>
              <a:rPr lang="en-US" sz="1400" b="0">
                <a:solidFill>
                  <a:srgbClr val="000000"/>
                </a:solidFill>
                <a:effectLst/>
                <a:latin typeface="Consolas" panose="020B0609020204030204" pitchFamily="49" charset="0"/>
              </a:rPr>
              <a:t>);</a:t>
            </a:r>
          </a:p>
          <a:p>
            <a:pPr>
              <a:lnSpc>
                <a:spcPts val="1425"/>
              </a:lnSpc>
              <a:buNone/>
            </a:pPr>
            <a:br>
              <a:rPr lang="en-US" sz="1400" b="0">
                <a:solidFill>
                  <a:srgbClr val="000000"/>
                </a:solidFill>
                <a:effectLst/>
                <a:latin typeface="Consolas" panose="020B0609020204030204" pitchFamily="49" charset="0"/>
              </a:rPr>
            </a:b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a:t>
            </a:r>
            <a:r>
              <a:rPr lang="en-US" sz="1400" b="0">
                <a:solidFill>
                  <a:srgbClr val="008000"/>
                </a:solidFill>
                <a:effectLst/>
                <a:latin typeface="Consolas" panose="020B0609020204030204" pitchFamily="49" charset="0"/>
              </a:rPr>
              <a:t>// Tiếp tục lặp qua các comment...</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a:t>
            </a:r>
          </a:p>
          <a:p>
            <a:pPr>
              <a:lnSpc>
                <a:spcPts val="1425"/>
              </a:lnSpc>
              <a:buNone/>
            </a:pPr>
            <a:br>
              <a:rPr lang="en-US" sz="1400" b="0">
                <a:solidFill>
                  <a:srgbClr val="000000"/>
                </a:solidFill>
                <a:effectLst/>
                <a:latin typeface="Consolas" panose="020B0609020204030204" pitchFamily="49" charset="0"/>
              </a:rPr>
            </a:b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a:t>
            </a:r>
            <a:r>
              <a:rPr lang="en-US" sz="1400" b="0">
                <a:solidFill>
                  <a:srgbClr val="008000"/>
                </a:solidFill>
                <a:effectLst/>
                <a:latin typeface="Consolas" panose="020B0609020204030204" pitchFamily="49" charset="0"/>
              </a:rPr>
              <a:t>// 2. Chừa "lỗ hổng" cho lớp con điền vào</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protected</a:t>
            </a:r>
            <a:r>
              <a:rPr lang="en-US" sz="1400" b="0">
                <a:solidFill>
                  <a:srgbClr val="000000"/>
                </a:solidFill>
                <a:effectLst/>
                <a:latin typeface="Consolas" panose="020B0609020204030204" pitchFamily="49" charset="0"/>
              </a:rPr>
              <a:t> </a:t>
            </a:r>
            <a:r>
              <a:rPr lang="en-US" sz="1400" b="0">
                <a:solidFill>
                  <a:srgbClr val="0000FF"/>
                </a:solidFill>
                <a:effectLst/>
                <a:latin typeface="Consolas" panose="020B0609020204030204" pitchFamily="49" charset="0"/>
              </a:rPr>
              <a:t>abstract</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void</a:t>
            </a: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processContent</a:t>
            </a:r>
            <a:endParaRPr lang="en-US" sz="1400" b="0">
              <a:solidFill>
                <a:srgbClr val="000000"/>
              </a:solidFill>
              <a:effectLst/>
              <a:latin typeface="Consolas" panose="020B0609020204030204" pitchFamily="49" charset="0"/>
            </a:endParaRPr>
          </a:p>
          <a:p>
            <a:pPr>
              <a:lnSpc>
                <a:spcPts val="1425"/>
              </a:lnSpc>
              <a:buNone/>
            </a:pP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String</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lowerContent</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Date</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timestamp</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Map</a:t>
            </a:r>
            <a:r>
              <a:rPr lang="en-US" sz="1400" b="0">
                <a:solidFill>
                  <a:srgbClr val="000000"/>
                </a:solidFill>
                <a:effectLst/>
                <a:latin typeface="Consolas" panose="020B0609020204030204" pitchFamily="49" charset="0"/>
              </a:rPr>
              <a:t>&lt;</a:t>
            </a:r>
            <a:r>
              <a:rPr lang="en-US" sz="1400" b="0">
                <a:solidFill>
                  <a:srgbClr val="267F99"/>
                </a:solidFill>
                <a:effectLst/>
                <a:latin typeface="Consolas" panose="020B0609020204030204" pitchFamily="49" charset="0"/>
              </a:rPr>
              <a:t>String</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T</a:t>
            </a:r>
            <a:r>
              <a:rPr lang="en-US" sz="1400" b="0">
                <a:solidFill>
                  <a:srgbClr val="000000"/>
                </a:solidFill>
                <a:effectLst/>
                <a:latin typeface="Consolas" panose="020B0609020204030204" pitchFamily="49" charset="0"/>
              </a:rPr>
              <a:t>&gt; </a:t>
            </a:r>
            <a:r>
              <a:rPr lang="en-US" sz="1400" b="0">
                <a:solidFill>
                  <a:srgbClr val="001080"/>
                </a:solidFill>
                <a:effectLst/>
                <a:latin typeface="Consolas" panose="020B0609020204030204" pitchFamily="49" charset="0"/>
              </a:rPr>
              <a:t>result</a:t>
            </a:r>
            <a:r>
              <a:rPr lang="en-US" sz="1400" b="0">
                <a:solidFill>
                  <a:srgbClr val="000000"/>
                </a:solidFill>
                <a:effectLst/>
                <a:latin typeface="Consolas" panose="020B0609020204030204" pitchFamily="49" charset="0"/>
              </a:rPr>
              <a:t>);</a:t>
            </a:r>
          </a:p>
          <a:p>
            <a:pPr>
              <a:lnSpc>
                <a:spcPts val="1425"/>
              </a:lnSpc>
              <a:buNone/>
            </a:pPr>
            <a:r>
              <a:rPr lang="en-US" sz="14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173907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EA13A-899E-9327-EEAE-46E203A148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240D7B-C43E-0C7F-7CE1-3FD87AFD10C2}"/>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3" name="Title 2">
            <a:extLst>
              <a:ext uri="{FF2B5EF4-FFF2-40B4-BE49-F238E27FC236}">
                <a16:creationId xmlns:a16="http://schemas.microsoft.com/office/drawing/2014/main" id="{9D0BEB2B-AAA3-16C3-47EB-2FDC4FC258A3}"/>
              </a:ext>
            </a:extLst>
          </p:cNvPr>
          <p:cNvSpPr>
            <a:spLocks noGrp="1"/>
          </p:cNvSpPr>
          <p:nvPr>
            <p:ph type="title"/>
          </p:nvPr>
        </p:nvSpPr>
        <p:spPr/>
        <p:txBody>
          <a:bodyPr/>
          <a:lstStyle/>
          <a:p>
            <a:r>
              <a:rPr lang="en-US"/>
              <a:t>3.2.3. </a:t>
            </a:r>
            <a:r>
              <a:rPr lang="vi-VN"/>
              <a:t>Pipeline </a:t>
            </a:r>
            <a:r>
              <a:rPr lang="vi-VN" dirty="0"/>
              <a:t>/ </a:t>
            </a:r>
            <a:r>
              <a:rPr lang="vi-VN" dirty="0" err="1"/>
              <a:t>Chain</a:t>
            </a:r>
            <a:r>
              <a:rPr lang="vi-VN" dirty="0"/>
              <a:t> </a:t>
            </a:r>
            <a:r>
              <a:rPr lang="vi-VN" dirty="0" err="1"/>
              <a:t>of</a:t>
            </a:r>
            <a:r>
              <a:rPr lang="vi-VN" dirty="0"/>
              <a:t> </a:t>
            </a:r>
            <a:r>
              <a:rPr lang="vi-VN" dirty="0" err="1"/>
              <a:t>Responsibility</a:t>
            </a:r>
            <a:endParaRPr lang="en-US" dirty="0"/>
          </a:p>
        </p:txBody>
      </p:sp>
      <p:sp>
        <p:nvSpPr>
          <p:cNvPr id="4" name="Rectangle 1">
            <a:extLst>
              <a:ext uri="{FF2B5EF4-FFF2-40B4-BE49-F238E27FC236}">
                <a16:creationId xmlns:a16="http://schemas.microsoft.com/office/drawing/2014/main" id="{D2B5EBBA-5549-EDB5-356D-E6984043821D}"/>
              </a:ext>
            </a:extLst>
          </p:cNvPr>
          <p:cNvSpPr>
            <a:spLocks noGrp="1" noChangeArrowheads="1"/>
          </p:cNvSpPr>
          <p:nvPr>
            <p:ph type="body" sz="quarter" idx="13"/>
          </p:nvPr>
        </p:nvSpPr>
        <p:spPr bwMode="auto">
          <a:xfrm>
            <a:off x="0" y="4063347"/>
            <a:ext cx="925726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000" b="1" i="0" u="none" strike="noStrike" cap="none" normalizeH="0" baseline="0">
                <a:ln>
                  <a:noFill/>
                </a:ln>
                <a:solidFill>
                  <a:schemeClr val="tx1"/>
                </a:solidFill>
                <a:effectLst/>
              </a:rPr>
              <a:t> </a:t>
            </a:r>
            <a:r>
              <a:rPr kumimoji="0" lang="vi-VN" altLang="vi-VN" sz="2000" b="1" i="0" u="none" strike="noStrike" cap="none" normalizeH="0" baseline="0">
                <a:ln>
                  <a:noFill/>
                </a:ln>
                <a:solidFill>
                  <a:schemeClr val="tx1"/>
                </a:solidFill>
                <a:effectLst/>
              </a:rPr>
              <a:t>Nơi </a:t>
            </a:r>
            <a:r>
              <a:rPr kumimoji="0" lang="vi-VN" altLang="vi-VN" sz="2000" b="1" i="0" u="none" strike="noStrike" cap="none" normalizeH="0" baseline="0" dirty="0">
                <a:ln>
                  <a:noFill/>
                </a:ln>
                <a:solidFill>
                  <a:schemeClr val="tx1"/>
                </a:solidFill>
                <a:effectLst/>
              </a:rPr>
              <a:t>áp dụng:</a:t>
            </a:r>
            <a:r>
              <a:rPr kumimoji="0" lang="vi-VN" altLang="vi-VN" sz="2000" b="0" i="0" u="none" strike="noStrike" cap="none" normalizeH="0" baseline="0" dirty="0">
                <a:ln>
                  <a:noFill/>
                </a:ln>
                <a:solidFill>
                  <a:schemeClr val="tx1"/>
                </a:solidFill>
                <a:effectLst/>
              </a:rPr>
              <a:t> Quá trình làm sạch dữ liệu với lớp </a:t>
            </a:r>
            <a:r>
              <a:rPr kumimoji="0" lang="vi-VN" altLang="vi-VN" sz="2000" b="0" i="0" u="none" strike="noStrike" cap="none" normalizeH="0" baseline="0" dirty="0" err="1">
                <a:ln>
                  <a:noFill/>
                </a:ln>
                <a:solidFill>
                  <a:schemeClr val="tx1"/>
                </a:solidFill>
                <a:effectLst/>
              </a:rPr>
              <a:t>PreProcessPipeline</a:t>
            </a:r>
            <a:r>
              <a:rPr kumimoji="0" lang="vi-VN" altLang="vi-VN" sz="2000" b="0" i="0" u="none" strike="noStrike" cap="none" normalizeH="0" baseline="0" dirty="0">
                <a:ln>
                  <a:noFill/>
                </a:ln>
                <a:solidFill>
                  <a:schemeClr val="tx1"/>
                </a:solidFill>
                <a:effectLst/>
              </a:rPr>
              <a:t> trong </a:t>
            </a:r>
            <a:r>
              <a:rPr kumimoji="0" lang="vi-VN" altLang="vi-VN" sz="2000" b="0" i="0" u="none" strike="noStrike" cap="none" normalizeH="0" baseline="0" err="1">
                <a:ln>
                  <a:noFill/>
                </a:ln>
                <a:solidFill>
                  <a:schemeClr val="tx1"/>
                </a:solidFill>
                <a:effectLst/>
              </a:rPr>
              <a:t>DataService</a:t>
            </a:r>
            <a:r>
              <a:rPr kumimoji="0" lang="vi-VN" altLang="vi-VN" sz="2000" b="0" i="0" u="none" strike="noStrike" cap="none" normalizeH="0" baseline="0">
                <a:ln>
                  <a:noFill/>
                </a:ln>
                <a:solidFill>
                  <a:schemeClr val="tx1"/>
                </a:solidFill>
                <a:effectLst/>
              </a:rPr>
              <a:t>.</a:t>
            </a:r>
            <a:endParaRPr kumimoji="0" lang="vi-VN" altLang="vi-VN"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000" b="1" i="0" u="none" strike="noStrike" cap="none" normalizeH="0" baseline="0">
                <a:ln>
                  <a:noFill/>
                </a:ln>
                <a:solidFill>
                  <a:schemeClr val="tx1"/>
                </a:solidFill>
                <a:effectLst/>
              </a:rPr>
              <a:t> </a:t>
            </a:r>
            <a:r>
              <a:rPr kumimoji="0" lang="vi-VN" altLang="vi-VN" sz="2000" b="1" i="0" u="none" strike="noStrike" cap="none" normalizeH="0" baseline="0">
                <a:ln>
                  <a:noFill/>
                </a:ln>
                <a:solidFill>
                  <a:schemeClr val="tx1"/>
                </a:solidFill>
                <a:effectLst/>
              </a:rPr>
              <a:t>Vấn </a:t>
            </a:r>
            <a:r>
              <a:rPr kumimoji="0" lang="vi-VN" altLang="vi-VN" sz="2000" b="1" i="0" u="none" strike="noStrike" cap="none" normalizeH="0" baseline="0" dirty="0">
                <a:ln>
                  <a:noFill/>
                </a:ln>
                <a:solidFill>
                  <a:schemeClr val="tx1"/>
                </a:solidFill>
                <a:effectLst/>
              </a:rPr>
              <a:t>đề giải quyết:</a:t>
            </a:r>
            <a:r>
              <a:rPr kumimoji="0" lang="vi-VN" altLang="vi-VN" sz="2000" b="0" i="0" u="none" strike="noStrike" cap="none" normalizeH="0" baseline="0" dirty="0">
                <a:ln>
                  <a:noFill/>
                </a:ln>
                <a:solidFill>
                  <a:schemeClr val="tx1"/>
                </a:solidFill>
                <a:effectLst/>
              </a:rPr>
              <a:t> Một bài viết cần đi qua hàng loạt bước xử lý: In thường -&gt; Xóa ký tự -&gt; Bỏ từ dừng -&gt; Chuẩn hóa tiếng Việt</a:t>
            </a:r>
            <a:r>
              <a:rPr kumimoji="0" lang="vi-VN" altLang="vi-VN" sz="2000" b="0" i="0" u="none" strike="noStrike" cap="none" normalizeH="0" baseline="0">
                <a:ln>
                  <a:noFill/>
                </a:ln>
                <a:solidFill>
                  <a:schemeClr val="tx1"/>
                </a:solidFill>
                <a:effectLst/>
              </a:rPr>
              <a:t>. </a:t>
            </a:r>
            <a:endParaRPr lang="vi-VN" altLang="vi-VN" sz="2000"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000" b="1" i="0" u="none" strike="noStrike" cap="none" normalizeH="0" baseline="0">
                <a:ln>
                  <a:noFill/>
                </a:ln>
                <a:solidFill>
                  <a:schemeClr val="tx1"/>
                </a:solidFill>
                <a:effectLst/>
              </a:rPr>
              <a:t> </a:t>
            </a:r>
            <a:r>
              <a:rPr kumimoji="0" lang="vi-VN" altLang="vi-VN" sz="2000" b="1" i="0" u="none" strike="noStrike" cap="none" normalizeH="0" baseline="0">
                <a:ln>
                  <a:noFill/>
                </a:ln>
                <a:solidFill>
                  <a:schemeClr val="tx1"/>
                </a:solidFill>
                <a:effectLst/>
              </a:rPr>
              <a:t>Cách </a:t>
            </a:r>
            <a:r>
              <a:rPr kumimoji="0" lang="vi-VN" altLang="vi-VN" sz="2000" b="1" i="0" u="none" strike="noStrike" cap="none" normalizeH="0" baseline="0" dirty="0">
                <a:ln>
                  <a:noFill/>
                </a:ln>
                <a:solidFill>
                  <a:schemeClr val="tx1"/>
                </a:solidFill>
                <a:effectLst/>
              </a:rPr>
              <a:t>nhóm đã làm:</a:t>
            </a:r>
            <a:r>
              <a:rPr kumimoji="0" lang="vi-VN" altLang="vi-VN" sz="2000" b="0" i="0" u="none" strike="noStrike" cap="none" normalizeH="0" baseline="0" dirty="0">
                <a:ln>
                  <a:noFill/>
                </a:ln>
                <a:solidFill>
                  <a:schemeClr val="tx1"/>
                </a:solidFill>
                <a:effectLst/>
              </a:rPr>
              <a:t> Tạo ra một (</a:t>
            </a:r>
            <a:r>
              <a:rPr kumimoji="0" lang="vi-VN" altLang="vi-VN" sz="2000" b="0" i="0" u="none" strike="noStrike" cap="none" normalizeH="0" baseline="0" dirty="0" err="1">
                <a:ln>
                  <a:noFill/>
                </a:ln>
                <a:solidFill>
                  <a:schemeClr val="tx1"/>
                </a:solidFill>
                <a:effectLst/>
              </a:rPr>
              <a:t>Pipeline</a:t>
            </a:r>
            <a:r>
              <a:rPr kumimoji="0" lang="vi-VN" altLang="vi-VN" sz="2000" b="0" i="0" u="none" strike="noStrike" cap="none" normalizeH="0" baseline="0" dirty="0">
                <a:ln>
                  <a:noFill/>
                </a:ln>
                <a:solidFill>
                  <a:schemeClr val="tx1"/>
                </a:solidFill>
                <a:effectLst/>
              </a:rPr>
              <a:t>) và nhét từng (</a:t>
            </a:r>
            <a:r>
              <a:rPr kumimoji="0" lang="vi-VN" altLang="vi-VN" sz="2000" b="0" i="0" u="none" strike="noStrike" cap="none" normalizeH="0" baseline="0" dirty="0" err="1">
                <a:ln>
                  <a:noFill/>
                </a:ln>
                <a:solidFill>
                  <a:schemeClr val="tx1"/>
                </a:solidFill>
                <a:effectLst/>
              </a:rPr>
              <a:t>Processor</a:t>
            </a:r>
            <a:r>
              <a:rPr kumimoji="0" lang="vi-VN" altLang="vi-VN" sz="2000" b="0" i="0" u="none" strike="noStrike" cap="none" normalizeH="0" baseline="0" dirty="0">
                <a:ln>
                  <a:noFill/>
                </a:ln>
                <a:solidFill>
                  <a:schemeClr val="tx1"/>
                </a:solidFill>
                <a:effectLst/>
              </a:rPr>
              <a:t>) vào đó. Dữ liệu đi qua cục lọc này xong sẽ chảy tiếp sang cục lọc khác. </a:t>
            </a:r>
          </a:p>
        </p:txBody>
      </p:sp>
      <p:sp>
        <p:nvSpPr>
          <p:cNvPr id="7" name="TextBox 6">
            <a:extLst>
              <a:ext uri="{FF2B5EF4-FFF2-40B4-BE49-F238E27FC236}">
                <a16:creationId xmlns:a16="http://schemas.microsoft.com/office/drawing/2014/main" id="{7203529E-7E81-FB5C-F482-CF9267DCBD17}"/>
              </a:ext>
            </a:extLst>
          </p:cNvPr>
          <p:cNvSpPr txBox="1"/>
          <p:nvPr/>
        </p:nvSpPr>
        <p:spPr>
          <a:xfrm>
            <a:off x="0" y="1098256"/>
            <a:ext cx="9144000" cy="27866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ts val="1425"/>
              </a:lnSpc>
              <a:buNone/>
            </a:pPr>
            <a:r>
              <a:rPr lang="en-US" sz="1400" b="0">
                <a:solidFill>
                  <a:srgbClr val="008000"/>
                </a:solidFill>
                <a:effectLst/>
                <a:latin typeface="Consolas" panose="020B0609020204030204" pitchFamily="49" charset="0"/>
              </a:rPr>
              <a:t>// ĐÂY LÀ PIPELINE PATTERN</a:t>
            </a:r>
            <a:r>
              <a:rPr lang="en-US" sz="1400">
                <a:solidFill>
                  <a:srgbClr val="008000"/>
                </a:solidFill>
                <a:latin typeface="Consolas" panose="020B0609020204030204" pitchFamily="49" charset="0"/>
              </a:rPr>
              <a:t> (Pseudocode)</a:t>
            </a:r>
            <a:endParaRPr lang="en-US" sz="1400" b="0">
              <a:solidFill>
                <a:srgbClr val="000000"/>
              </a:solidFill>
              <a:effectLst/>
              <a:latin typeface="Consolas" panose="020B0609020204030204" pitchFamily="49" charset="0"/>
            </a:endParaRPr>
          </a:p>
          <a:p>
            <a:pPr>
              <a:lnSpc>
                <a:spcPts val="1425"/>
              </a:lnSpc>
              <a:buNone/>
            </a:pPr>
            <a:r>
              <a:rPr lang="en-US" sz="1400" b="0">
                <a:solidFill>
                  <a:srgbClr val="267F99"/>
                </a:solidFill>
                <a:effectLst/>
                <a:latin typeface="Consolas" panose="020B0609020204030204" pitchFamily="49" charset="0"/>
              </a:rPr>
              <a:t>PreProcessPipeline</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pipeline</a:t>
            </a:r>
            <a:r>
              <a:rPr lang="en-US" sz="1400" b="0">
                <a:solidFill>
                  <a:srgbClr val="000000"/>
                </a:solidFill>
                <a:effectLst/>
                <a:latin typeface="Consolas" panose="020B0609020204030204" pitchFamily="49" charset="0"/>
              </a:rPr>
              <a:t> = </a:t>
            </a:r>
            <a:r>
              <a:rPr lang="en-US" sz="1400" b="0">
                <a:solidFill>
                  <a:srgbClr val="AF00DB"/>
                </a:solidFill>
                <a:effectLst/>
                <a:latin typeface="Consolas" panose="020B0609020204030204" pitchFamily="49" charset="0"/>
              </a:rPr>
              <a:t>new</a:t>
            </a: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PreProcessPipeline</a:t>
            </a:r>
            <a:r>
              <a:rPr lang="en-US" sz="1400" b="0">
                <a:solidFill>
                  <a:srgbClr val="000000"/>
                </a:solidFill>
                <a:effectLst/>
                <a:latin typeface="Consolas" panose="020B0609020204030204" pitchFamily="49" charset="0"/>
              </a:rPr>
              <a:t>();</a:t>
            </a:r>
          </a:p>
          <a:p>
            <a:pPr>
              <a:lnSpc>
                <a:spcPts val="1425"/>
              </a:lnSpc>
              <a:buNone/>
            </a:pPr>
            <a:r>
              <a:rPr lang="en-US" sz="1400" b="0">
                <a:solidFill>
                  <a:srgbClr val="001080"/>
                </a:solidFill>
                <a:effectLst/>
                <a:latin typeface="Consolas" panose="020B0609020204030204" pitchFamily="49" charset="0"/>
              </a:rPr>
              <a:t>pipeline</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addProcessor</a:t>
            </a:r>
            <a:r>
              <a:rPr lang="en-US" sz="1400" b="0">
                <a:solidFill>
                  <a:srgbClr val="000000"/>
                </a:solidFill>
                <a:effectLst/>
                <a:latin typeface="Consolas" panose="020B0609020204030204" pitchFamily="49" charset="0"/>
              </a:rPr>
              <a:t>(</a:t>
            </a:r>
            <a:r>
              <a:rPr lang="en-US" sz="1400" b="0">
                <a:solidFill>
                  <a:srgbClr val="AF00DB"/>
                </a:solidFill>
                <a:effectLst/>
                <a:latin typeface="Consolas" panose="020B0609020204030204" pitchFamily="49" charset="0"/>
              </a:rPr>
              <a:t>new</a:t>
            </a: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LowerCaseProcessor</a:t>
            </a:r>
            <a:r>
              <a:rPr lang="en-US" sz="1400" b="0">
                <a:solidFill>
                  <a:srgbClr val="000000"/>
                </a:solidFill>
                <a:effectLst/>
                <a:latin typeface="Consolas" panose="020B0609020204030204" pitchFamily="49" charset="0"/>
              </a:rPr>
              <a:t>());</a:t>
            </a:r>
          </a:p>
          <a:p>
            <a:pPr>
              <a:lnSpc>
                <a:spcPts val="1425"/>
              </a:lnSpc>
              <a:buNone/>
            </a:pPr>
            <a:endParaRPr lang="en-US" sz="1400" b="0">
              <a:solidFill>
                <a:srgbClr val="000000"/>
              </a:solidFill>
              <a:effectLst/>
              <a:latin typeface="Consolas" panose="020B0609020204030204" pitchFamily="49" charset="0"/>
            </a:endParaRPr>
          </a:p>
          <a:p>
            <a:pPr>
              <a:lnSpc>
                <a:spcPts val="1425"/>
              </a:lnSpc>
              <a:buNone/>
            </a:pPr>
            <a:r>
              <a:rPr lang="en-US" sz="1400" b="0">
                <a:solidFill>
                  <a:srgbClr val="001080"/>
                </a:solidFill>
                <a:effectLst/>
                <a:latin typeface="Consolas" panose="020B0609020204030204" pitchFamily="49" charset="0"/>
              </a:rPr>
              <a:t>pipeline</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addProcessor</a:t>
            </a:r>
            <a:r>
              <a:rPr lang="en-US" sz="1400" b="0">
                <a:solidFill>
                  <a:srgbClr val="000000"/>
                </a:solidFill>
                <a:effectLst/>
                <a:latin typeface="Consolas" panose="020B0609020204030204" pitchFamily="49" charset="0"/>
              </a:rPr>
              <a:t>(</a:t>
            </a:r>
            <a:r>
              <a:rPr lang="en-US" sz="1400" b="0">
                <a:solidFill>
                  <a:srgbClr val="AF00DB"/>
                </a:solidFill>
                <a:effectLst/>
                <a:latin typeface="Consolas" panose="020B0609020204030204" pitchFamily="49" charset="0"/>
              </a:rPr>
              <a:t>new</a:t>
            </a: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SpecialSymbolRemover</a:t>
            </a:r>
            <a:r>
              <a:rPr lang="en-US" sz="1400" b="0">
                <a:solidFill>
                  <a:srgbClr val="000000"/>
                </a:solidFill>
                <a:effectLst/>
                <a:latin typeface="Consolas" panose="020B0609020204030204" pitchFamily="49" charset="0"/>
              </a:rPr>
              <a:t>());</a:t>
            </a:r>
          </a:p>
          <a:p>
            <a:pPr>
              <a:lnSpc>
                <a:spcPts val="1425"/>
              </a:lnSpc>
              <a:buNone/>
            </a:pPr>
            <a:endParaRPr lang="en-US" sz="1400" b="0">
              <a:solidFill>
                <a:srgbClr val="000000"/>
              </a:solidFill>
              <a:effectLst/>
              <a:latin typeface="Consolas" panose="020B0609020204030204" pitchFamily="49" charset="0"/>
            </a:endParaRPr>
          </a:p>
          <a:p>
            <a:pPr>
              <a:lnSpc>
                <a:spcPts val="1425"/>
              </a:lnSpc>
              <a:buNone/>
            </a:pPr>
            <a:r>
              <a:rPr lang="en-US" sz="1400" b="0">
                <a:solidFill>
                  <a:srgbClr val="001080"/>
                </a:solidFill>
                <a:effectLst/>
                <a:latin typeface="Consolas" panose="020B0609020204030204" pitchFamily="49" charset="0"/>
              </a:rPr>
              <a:t>pipeline</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addProcessor</a:t>
            </a:r>
            <a:r>
              <a:rPr lang="en-US" sz="1400" b="0">
                <a:solidFill>
                  <a:srgbClr val="000000"/>
                </a:solidFill>
                <a:effectLst/>
                <a:latin typeface="Consolas" panose="020B0609020204030204" pitchFamily="49" charset="0"/>
              </a:rPr>
              <a:t>(</a:t>
            </a:r>
            <a:r>
              <a:rPr lang="en-US" sz="1400" b="0">
                <a:solidFill>
                  <a:srgbClr val="AF00DB"/>
                </a:solidFill>
                <a:effectLst/>
                <a:latin typeface="Consolas" panose="020B0609020204030204" pitchFamily="49" charset="0"/>
              </a:rPr>
              <a:t>new</a:t>
            </a: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StopWordsRemover</a:t>
            </a:r>
            <a:r>
              <a:rPr lang="en-US" sz="1400" b="0">
                <a:solidFill>
                  <a:srgbClr val="000000"/>
                </a:solidFill>
                <a:effectLst/>
                <a:latin typeface="Consolas" panose="020B0609020204030204" pitchFamily="49" charset="0"/>
              </a:rPr>
              <a:t>(</a:t>
            </a:r>
            <a:r>
              <a:rPr lang="en-US" sz="1400" b="0">
                <a:solidFill>
                  <a:srgbClr val="A31515"/>
                </a:solidFill>
                <a:effectLst/>
                <a:latin typeface="Consolas" panose="020B0609020204030204" pitchFamily="49" charset="0"/>
              </a:rPr>
              <a:t>"stopwords.txt"</a:t>
            </a:r>
            <a:r>
              <a:rPr lang="en-US" sz="1400" b="0">
                <a:solidFill>
                  <a:srgbClr val="000000"/>
                </a:solidFill>
                <a:effectLst/>
                <a:latin typeface="Consolas" panose="020B0609020204030204" pitchFamily="49" charset="0"/>
              </a:rPr>
              <a:t>));</a:t>
            </a:r>
          </a:p>
          <a:p>
            <a:pPr>
              <a:lnSpc>
                <a:spcPts val="1425"/>
              </a:lnSpc>
              <a:buNone/>
            </a:pPr>
            <a:endParaRPr lang="en-US" sz="1400" b="0">
              <a:solidFill>
                <a:srgbClr val="000000"/>
              </a:solidFill>
              <a:effectLst/>
              <a:latin typeface="Consolas" panose="020B0609020204030204" pitchFamily="49" charset="0"/>
            </a:endParaRPr>
          </a:p>
          <a:p>
            <a:pPr>
              <a:lnSpc>
                <a:spcPts val="1425"/>
              </a:lnSpc>
              <a:buNone/>
            </a:pPr>
            <a:r>
              <a:rPr lang="en-US" sz="1400" b="0">
                <a:solidFill>
                  <a:srgbClr val="001080"/>
                </a:solidFill>
                <a:effectLst/>
                <a:latin typeface="Consolas" panose="020B0609020204030204" pitchFamily="49" charset="0"/>
              </a:rPr>
              <a:t>pipeline</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addProcessor</a:t>
            </a:r>
            <a:r>
              <a:rPr lang="en-US" sz="1400" b="0">
                <a:solidFill>
                  <a:srgbClr val="000000"/>
                </a:solidFill>
                <a:effectLst/>
                <a:latin typeface="Consolas" panose="020B0609020204030204" pitchFamily="49" charset="0"/>
              </a:rPr>
              <a:t>(</a:t>
            </a:r>
            <a:r>
              <a:rPr lang="en-US" sz="1400" b="0">
                <a:solidFill>
                  <a:srgbClr val="AF00DB"/>
                </a:solidFill>
                <a:effectLst/>
                <a:latin typeface="Consolas" panose="020B0609020204030204" pitchFamily="49" charset="0"/>
              </a:rPr>
              <a:t>new</a:t>
            </a:r>
            <a:r>
              <a:rPr lang="en-US" sz="1400" b="0">
                <a:solidFill>
                  <a:srgbClr val="000000"/>
                </a:solidFill>
                <a:effectLst/>
                <a:latin typeface="Consolas" panose="020B0609020204030204" pitchFamily="49" charset="0"/>
              </a:rPr>
              <a:t> </a:t>
            </a:r>
            <a:r>
              <a:rPr lang="en-US" sz="1400" b="0">
                <a:solidFill>
                  <a:srgbClr val="795E26"/>
                </a:solidFill>
                <a:effectLst/>
                <a:latin typeface="Consolas" panose="020B0609020204030204" pitchFamily="49" charset="0"/>
              </a:rPr>
              <a:t>VietnameseNormalizer</a:t>
            </a:r>
            <a:r>
              <a:rPr lang="en-US" sz="1400" b="0">
                <a:solidFill>
                  <a:srgbClr val="000000"/>
                </a:solidFill>
                <a:effectLst/>
                <a:latin typeface="Consolas" panose="020B0609020204030204" pitchFamily="49" charset="0"/>
              </a:rPr>
              <a:t>());</a:t>
            </a:r>
          </a:p>
          <a:p>
            <a:pPr>
              <a:lnSpc>
                <a:spcPts val="1425"/>
              </a:lnSpc>
              <a:buNone/>
            </a:pPr>
            <a:br>
              <a:rPr lang="en-US" sz="1400" b="0">
                <a:solidFill>
                  <a:srgbClr val="000000"/>
                </a:solidFill>
                <a:effectLst/>
                <a:latin typeface="Consolas" panose="020B0609020204030204" pitchFamily="49" charset="0"/>
              </a:rPr>
            </a:br>
            <a:endParaRPr lang="en-US" sz="1400" b="0">
              <a:solidFill>
                <a:srgbClr val="000000"/>
              </a:solidFill>
              <a:effectLst/>
              <a:latin typeface="Consolas" panose="020B0609020204030204" pitchFamily="49" charset="0"/>
            </a:endParaRPr>
          </a:p>
          <a:p>
            <a:pPr>
              <a:lnSpc>
                <a:spcPts val="1425"/>
              </a:lnSpc>
              <a:buNone/>
            </a:pPr>
            <a:r>
              <a:rPr lang="en-US" sz="1400" b="0">
                <a:solidFill>
                  <a:srgbClr val="008000"/>
                </a:solidFill>
                <a:effectLst/>
                <a:latin typeface="Consolas" panose="020B0609020204030204" pitchFamily="49" charset="0"/>
              </a:rPr>
              <a:t>// Dữ liệu chảy qua đường ống</a:t>
            </a:r>
            <a:endParaRPr lang="en-US" sz="1400" b="0">
              <a:solidFill>
                <a:srgbClr val="000000"/>
              </a:solidFill>
              <a:effectLst/>
              <a:latin typeface="Consolas" panose="020B0609020204030204" pitchFamily="49" charset="0"/>
            </a:endParaRPr>
          </a:p>
          <a:p>
            <a:pPr>
              <a:lnSpc>
                <a:spcPts val="1425"/>
              </a:lnSpc>
              <a:buNone/>
            </a:pPr>
            <a:r>
              <a:rPr lang="en-US" sz="1400" b="0">
                <a:solidFill>
                  <a:srgbClr val="AF00DB"/>
                </a:solidFill>
                <a:effectLst/>
                <a:latin typeface="Consolas" panose="020B0609020204030204" pitchFamily="49" charset="0"/>
              </a:rPr>
              <a:t>for</a:t>
            </a:r>
            <a:r>
              <a:rPr lang="en-US" sz="1400" b="0">
                <a:solidFill>
                  <a:srgbClr val="000000"/>
                </a:solidFill>
                <a:effectLst/>
                <a:latin typeface="Consolas" panose="020B0609020204030204" pitchFamily="49" charset="0"/>
              </a:rPr>
              <a:t> (</a:t>
            </a:r>
            <a:r>
              <a:rPr lang="en-US" sz="1400" b="0">
                <a:solidFill>
                  <a:srgbClr val="267F99"/>
                </a:solidFill>
                <a:effectLst/>
                <a:latin typeface="Consolas" panose="020B0609020204030204" pitchFamily="49" charset="0"/>
              </a:rPr>
              <a:t>Post</a:t>
            </a: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p</a:t>
            </a:r>
            <a:r>
              <a:rPr lang="en-US" sz="1400" b="0">
                <a:solidFill>
                  <a:srgbClr val="000000"/>
                </a:solidFill>
                <a:effectLst/>
                <a:latin typeface="Consolas" panose="020B0609020204030204" pitchFamily="49" charset="0"/>
              </a:rPr>
              <a:t> </a:t>
            </a:r>
            <a:r>
              <a:rPr lang="en-US" sz="1400" b="0">
                <a:solidFill>
                  <a:srgbClr val="AF00DB"/>
                </a:solidFill>
                <a:effectLst/>
                <a:latin typeface="Consolas" panose="020B0609020204030204" pitchFamily="49" charset="0"/>
              </a:rPr>
              <a:t>:</a:t>
            </a:r>
            <a:r>
              <a:rPr lang="en-US" sz="1400" b="0">
                <a:solidFill>
                  <a:srgbClr val="000000"/>
                </a:solidFill>
                <a:effectLst/>
                <a:latin typeface="Consolas" panose="020B0609020204030204" pitchFamily="49" charset="0"/>
              </a:rPr>
              <a:t> rawPosts) {</a:t>
            </a:r>
          </a:p>
          <a:p>
            <a:pPr>
              <a:lnSpc>
                <a:spcPts val="1425"/>
              </a:lnSpc>
              <a:buNone/>
            </a:pPr>
            <a:r>
              <a:rPr lang="en-US" sz="1400" b="0">
                <a:solidFill>
                  <a:srgbClr val="000000"/>
                </a:solidFill>
                <a:effectLst/>
                <a:latin typeface="Consolas" panose="020B0609020204030204" pitchFamily="49" charset="0"/>
              </a:rPr>
              <a:t>    </a:t>
            </a:r>
            <a:r>
              <a:rPr lang="en-US" sz="1400" b="0">
                <a:solidFill>
                  <a:srgbClr val="001080"/>
                </a:solidFill>
                <a:effectLst/>
                <a:latin typeface="Consolas" panose="020B0609020204030204" pitchFamily="49" charset="0"/>
              </a:rPr>
              <a:t>pipeline</a:t>
            </a:r>
            <a:r>
              <a:rPr lang="en-US" sz="1400" b="0">
                <a:solidFill>
                  <a:srgbClr val="000000"/>
                </a:solidFill>
                <a:effectLst/>
                <a:latin typeface="Consolas" panose="020B0609020204030204" pitchFamily="49" charset="0"/>
              </a:rPr>
              <a:t>.</a:t>
            </a:r>
            <a:r>
              <a:rPr lang="en-US" sz="1400" b="0">
                <a:solidFill>
                  <a:srgbClr val="795E26"/>
                </a:solidFill>
                <a:effectLst/>
                <a:latin typeface="Consolas" panose="020B0609020204030204" pitchFamily="49" charset="0"/>
              </a:rPr>
              <a:t>execute</a:t>
            </a:r>
            <a:r>
              <a:rPr lang="en-US" sz="1400" b="0">
                <a:solidFill>
                  <a:srgbClr val="000000"/>
                </a:solidFill>
                <a:effectLst/>
                <a:latin typeface="Consolas" panose="020B0609020204030204" pitchFamily="49" charset="0"/>
              </a:rPr>
              <a:t>(p);</a:t>
            </a:r>
          </a:p>
          <a:p>
            <a:pPr>
              <a:lnSpc>
                <a:spcPts val="1425"/>
              </a:lnSpc>
              <a:buNone/>
            </a:pPr>
            <a:r>
              <a:rPr lang="en-US" sz="14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63204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down)">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342BC-0E61-2E92-BC4C-6873F58181C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95087E-1271-F43D-7E1D-13C07259F1FC}"/>
              </a:ext>
            </a:extLst>
          </p:cNvPr>
          <p:cNvSpPr>
            <a:spLocks noGrp="1"/>
          </p:cNvSpPr>
          <p:nvPr>
            <p:ph type="sldNum" sz="quarter" idx="12"/>
          </p:nvPr>
        </p:nvSpPr>
        <p:spPr/>
        <p:txBody>
          <a:bodyPr/>
          <a:lstStyle/>
          <a:p>
            <a:fld id="{9EA0BE3B-158A-4EDF-80DC-E394A0D1600F}" type="slidenum">
              <a:rPr lang="en-US" smtClean="0"/>
              <a:pPr/>
              <a:t>25</a:t>
            </a:fld>
            <a:endParaRPr lang="en-US" dirty="0"/>
          </a:p>
        </p:txBody>
      </p:sp>
      <p:sp>
        <p:nvSpPr>
          <p:cNvPr id="3" name="Title 2">
            <a:extLst>
              <a:ext uri="{FF2B5EF4-FFF2-40B4-BE49-F238E27FC236}">
                <a16:creationId xmlns:a16="http://schemas.microsoft.com/office/drawing/2014/main" id="{885126F9-C9F6-F58C-44B4-8E373DF4DB95}"/>
              </a:ext>
            </a:extLst>
          </p:cNvPr>
          <p:cNvSpPr>
            <a:spLocks noGrp="1"/>
          </p:cNvSpPr>
          <p:nvPr>
            <p:ph type="title"/>
          </p:nvPr>
        </p:nvSpPr>
        <p:spPr/>
        <p:txBody>
          <a:bodyPr/>
          <a:lstStyle/>
          <a:p>
            <a:r>
              <a:rPr lang="en-US"/>
              <a:t>3.3.2. </a:t>
            </a:r>
            <a:r>
              <a:rPr lang="vi-VN"/>
              <a:t>Exception </a:t>
            </a:r>
            <a:r>
              <a:rPr lang="vi-VN" dirty="0" err="1"/>
              <a:t>Handling</a:t>
            </a:r>
            <a:endParaRPr lang="en-US" dirty="0"/>
          </a:p>
        </p:txBody>
      </p:sp>
      <p:sp>
        <p:nvSpPr>
          <p:cNvPr id="5" name="Rectangle 1">
            <a:extLst>
              <a:ext uri="{FF2B5EF4-FFF2-40B4-BE49-F238E27FC236}">
                <a16:creationId xmlns:a16="http://schemas.microsoft.com/office/drawing/2014/main" id="{CFD95FED-7AF2-3C28-C24A-BAA2D7D467B2}"/>
              </a:ext>
            </a:extLst>
          </p:cNvPr>
          <p:cNvSpPr>
            <a:spLocks noGrp="1" noChangeArrowheads="1"/>
          </p:cNvSpPr>
          <p:nvPr>
            <p:ph type="body" sz="quarter" idx="13"/>
          </p:nvPr>
        </p:nvSpPr>
        <p:spPr bwMode="auto">
          <a:xfrm>
            <a:off x="0" y="1117989"/>
            <a:ext cx="9149682" cy="5137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a:buNone/>
            </a:pPr>
            <a:r>
              <a:rPr lang="vi-VN" sz="2400" b="1" dirty="0"/>
              <a:t>Hiệu quả của kiến trúc xử lý lỗi </a:t>
            </a:r>
            <a:r>
              <a:rPr lang="vi-VN" sz="2400" b="1"/>
              <a:t>này:</a:t>
            </a:r>
            <a:endParaRPr lang="en-US" sz="2400" b="1"/>
          </a:p>
          <a:p>
            <a:pPr marL="0" indent="0" algn="ctr">
              <a:buNone/>
            </a:pPr>
            <a:endParaRPr lang="vi-VN" sz="2000" dirty="0"/>
          </a:p>
          <a:p>
            <a:pPr marL="0" indent="0">
              <a:buNone/>
            </a:pPr>
            <a:r>
              <a:rPr lang="vi-VN" sz="2000" b="1" dirty="0"/>
              <a:t>Ổn định hệ thống (</a:t>
            </a:r>
            <a:r>
              <a:rPr lang="vi-VN" sz="2000" b="1" dirty="0" err="1"/>
              <a:t>Stability</a:t>
            </a:r>
            <a:r>
              <a:rPr lang="vi-VN" sz="2000" b="1" dirty="0"/>
              <a:t>):</a:t>
            </a:r>
            <a:r>
              <a:rPr lang="vi-VN" sz="2000" dirty="0"/>
              <a:t> Lỗi cục bộ xảy ra ở một luồng thu thập hoặc ghi </a:t>
            </a:r>
            <a:r>
              <a:rPr lang="vi-VN" sz="2000" dirty="0" err="1"/>
              <a:t>file</a:t>
            </a:r>
            <a:r>
              <a:rPr lang="vi-VN" sz="2000" dirty="0"/>
              <a:t> sẽ bị bắt (</a:t>
            </a:r>
            <a:r>
              <a:rPr lang="vi-VN" sz="2000" dirty="0" err="1"/>
              <a:t>catch</a:t>
            </a:r>
            <a:r>
              <a:rPr lang="vi-VN" sz="2000" dirty="0"/>
              <a:t>) và xử lý gọn gàng, không làm sập (</a:t>
            </a:r>
            <a:r>
              <a:rPr lang="vi-VN" sz="2000" dirty="0" err="1"/>
              <a:t>crash</a:t>
            </a:r>
            <a:r>
              <a:rPr lang="vi-VN" sz="2000" dirty="0"/>
              <a:t>) ứng dụng</a:t>
            </a:r>
          </a:p>
          <a:p>
            <a:pPr marL="0" indent="0">
              <a:buNone/>
            </a:pPr>
            <a:endParaRPr lang="vi-VN" sz="2000" dirty="0"/>
          </a:p>
          <a:p>
            <a:pPr marL="0" indent="0">
              <a:buNone/>
            </a:pPr>
            <a:r>
              <a:rPr lang="vi-VN" sz="2000" b="1" dirty="0"/>
              <a:t>Phân tách rõ ràng trách nhiệm:</a:t>
            </a:r>
            <a:r>
              <a:rPr lang="vi-VN" sz="2000" dirty="0"/>
              <a:t> Mỗi tầng xử lý lỗi đúng với vai trò của mình. </a:t>
            </a:r>
          </a:p>
          <a:p>
            <a:pPr marL="0" indent="0">
              <a:buNone/>
            </a:pPr>
            <a:endParaRPr lang="vi-VN" sz="2000" b="1" dirty="0"/>
          </a:p>
          <a:p>
            <a:pPr marL="0" indent="0">
              <a:buNone/>
            </a:pPr>
            <a:r>
              <a:rPr lang="vi-VN" sz="2000" b="1" dirty="0"/>
              <a:t>Trải nghiệm người dùng tốt hơn:</a:t>
            </a:r>
            <a:r>
              <a:rPr lang="vi-VN" sz="2000" dirty="0"/>
              <a:t> UI nhận được thông báo lỗi rõ ràng, mang tính nghiệp vụ thay vì các dòng lỗi kỹ thuật khó hiểu của hệ thống</a:t>
            </a:r>
          </a:p>
          <a:p>
            <a:pPr marL="0" indent="0">
              <a:buNone/>
            </a:pPr>
            <a:endParaRPr lang="vi-VN" sz="2000" dirty="0"/>
          </a:p>
          <a:p>
            <a:pPr marL="0" indent="0">
              <a:buNone/>
            </a:pPr>
            <a:r>
              <a:rPr lang="vi-VN" sz="2000" b="1" dirty="0"/>
              <a:t>Hỗ trợ </a:t>
            </a:r>
            <a:r>
              <a:rPr lang="vi-VN" sz="2000" b="1" dirty="0" err="1"/>
              <a:t>debug</a:t>
            </a:r>
            <a:r>
              <a:rPr lang="vi-VN" sz="2000" b="1" dirty="0"/>
              <a:t> hiệu quả:</a:t>
            </a:r>
            <a:r>
              <a:rPr lang="vi-VN" sz="2000" dirty="0"/>
              <a:t> Giữ nguyên </a:t>
            </a:r>
            <a:r>
              <a:rPr lang="vi-VN" sz="2000" dirty="0" err="1"/>
              <a:t>stack</a:t>
            </a:r>
            <a:r>
              <a:rPr lang="vi-VN" sz="2000" dirty="0"/>
              <a:t> </a:t>
            </a:r>
            <a:r>
              <a:rPr lang="vi-VN" sz="2000" dirty="0" err="1"/>
              <a:t>trace</a:t>
            </a:r>
            <a:r>
              <a:rPr lang="vi-VN" sz="2000" dirty="0"/>
              <a:t> và </a:t>
            </a:r>
            <a:r>
              <a:rPr lang="vi-VN" sz="2000" err="1"/>
              <a:t>log</a:t>
            </a:r>
            <a:r>
              <a:rPr lang="vi-VN" sz="2000"/>
              <a:t> </a:t>
            </a:r>
            <a:r>
              <a:rPr lang="en-US" sz="2000"/>
              <a:t>in </a:t>
            </a:r>
            <a:r>
              <a:rPr lang="vi-VN" sz="2000"/>
              <a:t>đầy </a:t>
            </a:r>
            <a:r>
              <a:rPr lang="vi-VN" sz="2000" dirty="0"/>
              <a:t>đủ thông tin lỗi. Nhờ cơ chế </a:t>
            </a:r>
            <a:r>
              <a:rPr lang="vi-VN" sz="2000"/>
              <a:t>truyền </a:t>
            </a:r>
            <a:r>
              <a:rPr lang="en-US" sz="2000" b="1" dirty="0"/>
              <a:t>t</a:t>
            </a:r>
            <a:r>
              <a:rPr lang="vi-VN" sz="2000" b="1"/>
              <a:t>hrowable </a:t>
            </a:r>
            <a:r>
              <a:rPr lang="vi-VN" sz="2000" b="1" dirty="0" err="1"/>
              <a:t>cause</a:t>
            </a:r>
            <a:r>
              <a:rPr lang="vi-VN" sz="2000" b="1" dirty="0"/>
              <a:t> </a:t>
            </a:r>
            <a:r>
              <a:rPr lang="vi-VN" sz="2000" dirty="0"/>
              <a:t>vào lớp </a:t>
            </a:r>
            <a:r>
              <a:rPr lang="vi-VN" sz="2000" dirty="0" err="1"/>
              <a:t>BaseException</a:t>
            </a:r>
            <a:r>
              <a:rPr lang="vi-VN" sz="2000" dirty="0"/>
              <a:t>, hệ thống "gói" </a:t>
            </a:r>
            <a:r>
              <a:rPr lang="vi-VN" sz="2000"/>
              <a:t>lỗi vào </a:t>
            </a:r>
            <a:r>
              <a:rPr lang="en-US" sz="2000"/>
              <a:t>xử lý kịp thời</a:t>
            </a:r>
            <a:endParaRPr lang="vi-VN" sz="20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vi-VN" altLang="vi-VN"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58596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500"/>
                                        <p:tgtEl>
                                          <p:spTgt spid="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fade">
                                      <p:cBhvr>
                                        <p:cTn id="13" dur="500"/>
                                        <p:tgtEl>
                                          <p:spTgt spid="5">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6" end="6"/>
                                            </p:txEl>
                                          </p:spTgt>
                                        </p:tgtEl>
                                        <p:attrNameLst>
                                          <p:attrName>style.visibility</p:attrName>
                                        </p:attrNameLst>
                                      </p:cBhvr>
                                      <p:to>
                                        <p:strVal val="visible"/>
                                      </p:to>
                                    </p:set>
                                    <p:animEffect transition="in" filter="fade">
                                      <p:cBhvr>
                                        <p:cTn id="16" dur="500"/>
                                        <p:tgtEl>
                                          <p:spTgt spid="5">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animEffect transition="in" filter="fade">
                                      <p:cBhvr>
                                        <p:cTn id="19"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EB426-C104-9F3C-DC89-3EDEA1806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2BB42-2DE1-07DC-1C62-FF636CF877B5}"/>
              </a:ext>
            </a:extLst>
          </p:cNvPr>
          <p:cNvSpPr>
            <a:spLocks noGrp="1"/>
          </p:cNvSpPr>
          <p:nvPr>
            <p:ph type="title"/>
          </p:nvPr>
        </p:nvSpPr>
        <p:spPr>
          <a:xfrm>
            <a:off x="1392047" y="2860548"/>
            <a:ext cx="6359906" cy="2127504"/>
          </a:xfrm>
        </p:spPr>
        <p:txBody>
          <a:bodyPr/>
          <a:lstStyle/>
          <a:p>
            <a:r>
              <a:rPr lang="en-US" sz="5400" dirty="0"/>
              <a:t>4. </a:t>
            </a:r>
            <a:r>
              <a:rPr lang="en-US" sz="5400" dirty="0" err="1"/>
              <a:t>Mở</a:t>
            </a:r>
            <a:r>
              <a:rPr lang="en-US" sz="5400" dirty="0"/>
              <a:t> </a:t>
            </a:r>
            <a:r>
              <a:rPr lang="en-US" sz="5400" dirty="0" err="1"/>
              <a:t>rộng</a:t>
            </a:r>
            <a:r>
              <a:rPr lang="en-US" sz="5400" dirty="0"/>
              <a:t> </a:t>
            </a:r>
            <a:r>
              <a:rPr lang="en-US" sz="5400" dirty="0" err="1"/>
              <a:t>yêu</a:t>
            </a:r>
            <a:r>
              <a:rPr lang="en-US" sz="5400" dirty="0"/>
              <a:t> </a:t>
            </a:r>
            <a:r>
              <a:rPr lang="en-US" sz="5400" dirty="0" err="1"/>
              <a:t>cầu</a:t>
            </a:r>
            <a:endParaRPr lang="en-US" sz="5400" dirty="0"/>
          </a:p>
        </p:txBody>
      </p:sp>
    </p:spTree>
    <p:extLst>
      <p:ext uri="{BB962C8B-B14F-4D97-AF65-F5344CB8AC3E}">
        <p14:creationId xmlns:p14="http://schemas.microsoft.com/office/powerpoint/2010/main" val="3007895327"/>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0B3FD-53A8-84F5-1573-B5C9D993C5C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0CFA43-6F37-6EE0-D915-84CC5AE2062F}"/>
              </a:ext>
            </a:extLst>
          </p:cNvPr>
          <p:cNvSpPr>
            <a:spLocks noGrp="1"/>
          </p:cNvSpPr>
          <p:nvPr>
            <p:ph type="sldNum" sz="quarter" idx="12"/>
          </p:nvPr>
        </p:nvSpPr>
        <p:spPr/>
        <p:txBody>
          <a:bodyPr/>
          <a:lstStyle/>
          <a:p>
            <a:fld id="{9EA0BE3B-158A-4EDF-80DC-E394A0D1600F}" type="slidenum">
              <a:rPr lang="en-US" smtClean="0"/>
              <a:pPr/>
              <a:t>27</a:t>
            </a:fld>
            <a:endParaRPr lang="en-US" dirty="0"/>
          </a:p>
        </p:txBody>
      </p:sp>
      <p:sp>
        <p:nvSpPr>
          <p:cNvPr id="3" name="Title 2">
            <a:extLst>
              <a:ext uri="{FF2B5EF4-FFF2-40B4-BE49-F238E27FC236}">
                <a16:creationId xmlns:a16="http://schemas.microsoft.com/office/drawing/2014/main" id="{60B88EE6-D245-569D-89E6-5735E9AE1AC7}"/>
              </a:ext>
            </a:extLst>
          </p:cNvPr>
          <p:cNvSpPr>
            <a:spLocks noGrp="1"/>
          </p:cNvSpPr>
          <p:nvPr>
            <p:ph type="title"/>
          </p:nvPr>
        </p:nvSpPr>
        <p:spPr/>
        <p:txBody>
          <a:bodyPr/>
          <a:lstStyle/>
          <a:p>
            <a:r>
              <a:rPr lang="en-US"/>
              <a:t>4.1. </a:t>
            </a:r>
            <a:r>
              <a:rPr lang="vi-VN"/>
              <a:t>Xử </a:t>
            </a:r>
            <a:r>
              <a:rPr lang="vi-VN" dirty="0"/>
              <a:t>lí yêu cầu truy tìm điểm nóng</a:t>
            </a:r>
            <a:endParaRPr lang="en-US" dirty="0"/>
          </a:p>
        </p:txBody>
      </p:sp>
      <p:sp>
        <p:nvSpPr>
          <p:cNvPr id="5" name="Rectangle 1">
            <a:extLst>
              <a:ext uri="{FF2B5EF4-FFF2-40B4-BE49-F238E27FC236}">
                <a16:creationId xmlns:a16="http://schemas.microsoft.com/office/drawing/2014/main" id="{D3BDA7E3-87BA-87F6-456D-8077F393930F}"/>
              </a:ext>
            </a:extLst>
          </p:cNvPr>
          <p:cNvSpPr>
            <a:spLocks noGrp="1" noChangeArrowheads="1"/>
          </p:cNvSpPr>
          <p:nvPr>
            <p:ph type="body" sz="quarter" idx="13"/>
          </p:nvPr>
        </p:nvSpPr>
        <p:spPr bwMode="auto">
          <a:xfrm>
            <a:off x="0" y="1119841"/>
            <a:ext cx="9149682"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vi-VN" sz="2000" b="1" dirty="0"/>
              <a:t>Mô tả:</a:t>
            </a:r>
          </a:p>
          <a:p>
            <a:pPr marL="0" indent="0">
              <a:buNone/>
            </a:pPr>
            <a:r>
              <a:rPr lang="vi-VN" sz="2000" dirty="0"/>
              <a:t>Trong hệ thống, </a:t>
            </a:r>
            <a:r>
              <a:rPr lang="vi-VN" sz="2000" b="1" err="1"/>
              <a:t>Hotspot</a:t>
            </a:r>
            <a:r>
              <a:rPr lang="vi-VN" sz="2000" b="1"/>
              <a:t> Analysis </a:t>
            </a:r>
            <a:r>
              <a:rPr lang="vi-VN" sz="2000" dirty="0"/>
              <a:t>là kỹ thuật quét các bài đăng (</a:t>
            </a:r>
            <a:r>
              <a:rPr lang="vi-VN" sz="2000" dirty="0" err="1"/>
              <a:t>posts</a:t>
            </a:r>
            <a:r>
              <a:rPr lang="vi-VN" sz="2000" dirty="0"/>
              <a:t>) và bình luận (</a:t>
            </a:r>
            <a:r>
              <a:rPr lang="vi-VN" sz="2000" dirty="0" err="1"/>
              <a:t>comments</a:t>
            </a:r>
            <a:r>
              <a:rPr lang="vi-VN" sz="2000" dirty="0"/>
              <a:t>) để định vị, thống kê và tìm ra những khu vực địa lý đang chịu ảnh hưởng nặng </a:t>
            </a:r>
            <a:r>
              <a:rPr lang="vi-VN" sz="2000"/>
              <a:t>nề nhất</a:t>
            </a:r>
            <a:r>
              <a:rPr lang="en-US" sz="2000"/>
              <a:t>.</a:t>
            </a:r>
            <a:endParaRPr lang="vi-VN" sz="2000" dirty="0"/>
          </a:p>
          <a:p>
            <a:r>
              <a:rPr lang="vi-VN" sz="2000" b="1" dirty="0"/>
              <a:t>Ứng dụng:</a:t>
            </a:r>
          </a:p>
          <a:p>
            <a:pPr marL="0" indent="0">
              <a:buNone/>
            </a:pPr>
            <a:r>
              <a:rPr lang="vi-VN" sz="2000" dirty="0"/>
              <a:t>Kết quả của phân tích </a:t>
            </a:r>
            <a:r>
              <a:rPr lang="vi-VN" sz="2000"/>
              <a:t>này được </a:t>
            </a:r>
            <a:r>
              <a:rPr lang="vi-VN" sz="2000" dirty="0"/>
              <a:t>dùng để </a:t>
            </a:r>
            <a:r>
              <a:rPr lang="vi-VN" sz="2000"/>
              <a:t>vẽ </a:t>
            </a:r>
            <a:r>
              <a:rPr lang="en-US" sz="2000" b="1"/>
              <a:t>biểu đồ cột ngang theo tần suất</a:t>
            </a:r>
            <a:r>
              <a:rPr lang="vi-VN" sz="2000"/>
              <a:t>, </a:t>
            </a:r>
            <a:r>
              <a:rPr lang="vi-VN" sz="2000" dirty="0"/>
              <a:t>giúp các đội cứu hộ hoặc tổ chức từ thiện biết được nơi nào đang là </a:t>
            </a:r>
            <a:r>
              <a:rPr lang="vi-VN" sz="2000" b="1" dirty="0"/>
              <a:t>"điểm nóng" </a:t>
            </a:r>
            <a:r>
              <a:rPr lang="vi-VN" sz="2000" dirty="0"/>
              <a:t>cần ưu tiên dồn </a:t>
            </a:r>
            <a:r>
              <a:rPr lang="vi-VN" sz="2000"/>
              <a:t>nguồn lực</a:t>
            </a:r>
            <a:r>
              <a:rPr lang="en-US" sz="2000"/>
              <a:t> cứu trợ</a:t>
            </a:r>
            <a:r>
              <a:rPr lang="vi-VN" sz="2000"/>
              <a:t>.</a:t>
            </a:r>
            <a:endParaRPr lang="vi-VN" sz="20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vi-VN" altLang="vi-VN" sz="2000" b="0" i="0" u="none" strike="noStrike" cap="none" normalizeH="0" baseline="0" dirty="0">
              <a:ln>
                <a:noFill/>
              </a:ln>
              <a:solidFill>
                <a:schemeClr val="tx1"/>
              </a:solidFill>
              <a:effectLst/>
            </a:endParaRPr>
          </a:p>
        </p:txBody>
      </p:sp>
      <p:graphicFrame>
        <p:nvGraphicFramePr>
          <p:cNvPr id="7" name="Chart 6">
            <a:extLst>
              <a:ext uri="{FF2B5EF4-FFF2-40B4-BE49-F238E27FC236}">
                <a16:creationId xmlns:a16="http://schemas.microsoft.com/office/drawing/2014/main" id="{CCEDDBA2-1968-29B5-356B-47CD96A3BA1D}"/>
              </a:ext>
            </a:extLst>
          </p:cNvPr>
          <p:cNvGraphicFramePr/>
          <p:nvPr>
            <p:extLst>
              <p:ext uri="{D42A27DB-BD31-4B8C-83A1-F6EECF244321}">
                <p14:modId xmlns:p14="http://schemas.microsoft.com/office/powerpoint/2010/main" val="2900012247"/>
              </p:ext>
            </p:extLst>
          </p:nvPr>
        </p:nvGraphicFramePr>
        <p:xfrm>
          <a:off x="1809750" y="3746500"/>
          <a:ext cx="5524500" cy="2463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00876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Graphic spid="7" grpId="0">
        <p:bldAsOne/>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F0BD7-8411-DC73-F5BD-D304BB05414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D8ABA1-5A46-4960-DF4C-7A792E15B3CD}"/>
              </a:ext>
            </a:extLst>
          </p:cNvPr>
          <p:cNvSpPr>
            <a:spLocks noGrp="1"/>
          </p:cNvSpPr>
          <p:nvPr>
            <p:ph type="sldNum" sz="quarter" idx="12"/>
          </p:nvPr>
        </p:nvSpPr>
        <p:spPr/>
        <p:txBody>
          <a:bodyPr/>
          <a:lstStyle/>
          <a:p>
            <a:fld id="{9EA0BE3B-158A-4EDF-80DC-E394A0D1600F}" type="slidenum">
              <a:rPr lang="en-US" smtClean="0"/>
              <a:pPr/>
              <a:t>28</a:t>
            </a:fld>
            <a:endParaRPr lang="en-US" dirty="0"/>
          </a:p>
        </p:txBody>
      </p:sp>
      <p:sp>
        <p:nvSpPr>
          <p:cNvPr id="3" name="Title 2">
            <a:extLst>
              <a:ext uri="{FF2B5EF4-FFF2-40B4-BE49-F238E27FC236}">
                <a16:creationId xmlns:a16="http://schemas.microsoft.com/office/drawing/2014/main" id="{481BEA13-759A-6F14-D6E0-0184B137EC3D}"/>
              </a:ext>
            </a:extLst>
          </p:cNvPr>
          <p:cNvSpPr>
            <a:spLocks noGrp="1"/>
          </p:cNvSpPr>
          <p:nvPr>
            <p:ph type="title"/>
          </p:nvPr>
        </p:nvSpPr>
        <p:spPr/>
        <p:txBody>
          <a:bodyPr/>
          <a:lstStyle/>
          <a:p>
            <a:r>
              <a:rPr lang="en-US"/>
              <a:t>4.2. </a:t>
            </a:r>
            <a:r>
              <a:rPr lang="vi-VN"/>
              <a:t>Tích </a:t>
            </a:r>
            <a:r>
              <a:rPr lang="vi-VN" dirty="0"/>
              <a:t>hợp AI trong phân tích số liệu</a:t>
            </a:r>
            <a:endParaRPr lang="en-US" dirty="0"/>
          </a:p>
        </p:txBody>
      </p:sp>
      <p:sp>
        <p:nvSpPr>
          <p:cNvPr id="5" name="Rectangle 1">
            <a:extLst>
              <a:ext uri="{FF2B5EF4-FFF2-40B4-BE49-F238E27FC236}">
                <a16:creationId xmlns:a16="http://schemas.microsoft.com/office/drawing/2014/main" id="{528542C0-921B-C9DA-D3BF-50E8B08163AF}"/>
              </a:ext>
            </a:extLst>
          </p:cNvPr>
          <p:cNvSpPr>
            <a:spLocks noGrp="1" noChangeArrowheads="1"/>
          </p:cNvSpPr>
          <p:nvPr>
            <p:ph type="body" sz="quarter" idx="13"/>
          </p:nvPr>
        </p:nvSpPr>
        <p:spPr bwMode="auto">
          <a:xfrm>
            <a:off x="0" y="1175140"/>
            <a:ext cx="9149682" cy="2723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vi-VN" sz="2000" dirty="0"/>
              <a:t>• </a:t>
            </a:r>
            <a:r>
              <a:rPr lang="vi-VN" sz="2000" b="1" dirty="0"/>
              <a:t>Mô tả: </a:t>
            </a:r>
            <a:endParaRPr lang="vi-VN" sz="2000" dirty="0"/>
          </a:p>
          <a:p>
            <a:pPr marL="0" indent="0">
              <a:buNone/>
            </a:pPr>
            <a:r>
              <a:rPr lang="vi-VN" sz="2000" dirty="0"/>
              <a:t>Trong hệ thống</a:t>
            </a:r>
            <a:r>
              <a:rPr lang="vi-VN" sz="2000"/>
              <a:t>, </a:t>
            </a:r>
            <a:r>
              <a:rPr lang="en-US" sz="2000"/>
              <a:t>t</a:t>
            </a:r>
            <a:r>
              <a:rPr lang="vi-VN" sz="2000"/>
              <a:t>ích </a:t>
            </a:r>
            <a:r>
              <a:rPr lang="vi-VN" sz="2000" dirty="0"/>
              <a:t>hợp AI là kỹ thuật ứng dụng các mô hình ngôn ngữ tự </a:t>
            </a:r>
            <a:r>
              <a:rPr lang="vi-VN" sz="2000"/>
              <a:t>nhiên và </a:t>
            </a:r>
            <a:r>
              <a:rPr lang="vi-VN" sz="2000" dirty="0"/>
              <a:t>học máy để đọc hiểu ngữ cảnh, trích xuất thông tin.</a:t>
            </a:r>
          </a:p>
          <a:p>
            <a:pPr marL="0" indent="0">
              <a:buNone/>
            </a:pPr>
            <a:r>
              <a:rPr lang="vi-VN" sz="2000" dirty="0"/>
              <a:t>• </a:t>
            </a:r>
            <a:r>
              <a:rPr lang="vi-VN" sz="2000" b="1" dirty="0"/>
              <a:t>Ứng dụng: </a:t>
            </a:r>
          </a:p>
          <a:p>
            <a:pPr marL="0" indent="0">
              <a:buNone/>
            </a:pPr>
            <a:r>
              <a:rPr lang="vi-VN" sz="2000" dirty="0"/>
              <a:t>Kết quả của quá trình này thường được dùng để xuất </a:t>
            </a:r>
            <a:r>
              <a:rPr lang="vi-VN" sz="2000"/>
              <a:t>ra </a:t>
            </a:r>
            <a:r>
              <a:rPr lang="en-US" sz="2000" b="1"/>
              <a:t>b</a:t>
            </a:r>
            <a:r>
              <a:rPr lang="vi-VN" sz="2000" b="1"/>
              <a:t>áo </a:t>
            </a:r>
            <a:r>
              <a:rPr lang="vi-VN" sz="2000" b="1" dirty="0"/>
              <a:t>cáo tóm tắt </a:t>
            </a:r>
            <a:r>
              <a:rPr lang="vi-VN" sz="2000" dirty="0"/>
              <a:t>thông minh (</a:t>
            </a:r>
            <a:r>
              <a:rPr lang="vi-VN" sz="2000" dirty="0" err="1"/>
              <a:t>Smart</a:t>
            </a:r>
            <a:r>
              <a:rPr lang="vi-VN" sz="2000" dirty="0"/>
              <a:t> </a:t>
            </a:r>
            <a:r>
              <a:rPr lang="vi-VN" sz="2000" err="1"/>
              <a:t>Summaries</a:t>
            </a:r>
            <a:r>
              <a:rPr lang="vi-VN" sz="2000"/>
              <a:t>)</a:t>
            </a:r>
            <a:r>
              <a:rPr lang="en-US" sz="2000"/>
              <a:t>, </a:t>
            </a:r>
            <a:r>
              <a:rPr lang="vi-VN" sz="2000" b="1"/>
              <a:t>cảnh </a:t>
            </a:r>
            <a:r>
              <a:rPr lang="vi-VN" sz="2000" b="1" dirty="0"/>
              <a:t>báo xu hướng </a:t>
            </a:r>
            <a:r>
              <a:rPr lang="vi-VN" sz="2000" dirty="0"/>
              <a:t>cảm xúc </a:t>
            </a:r>
            <a:r>
              <a:rPr lang="vi-VN" sz="2000"/>
              <a:t>dư luậ</a:t>
            </a:r>
            <a:r>
              <a:rPr lang="en-US" sz="2000"/>
              <a:t>n, </a:t>
            </a:r>
            <a:r>
              <a:rPr lang="en-US" sz="2000" b="1"/>
              <a:t>nhận xét</a:t>
            </a:r>
            <a:r>
              <a:rPr lang="en-US" sz="2000"/>
              <a:t>, đưa ra </a:t>
            </a:r>
            <a:r>
              <a:rPr lang="en-US" sz="2000" b="1"/>
              <a:t>giải pháp phục hồi </a:t>
            </a:r>
            <a:r>
              <a:rPr lang="en-US" sz="2000"/>
              <a:t>theo góc nhìn khách quan.</a:t>
            </a:r>
            <a:endParaRPr lang="vi-VN" sz="2000"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vi-VN" altLang="vi-VN" sz="2000" b="0" i="0" u="none" strike="noStrike" cap="none" normalizeH="0" baseline="0" dirty="0">
              <a:ln>
                <a:noFill/>
              </a:ln>
              <a:solidFill>
                <a:schemeClr val="tx1"/>
              </a:solidFill>
              <a:effectLst/>
            </a:endParaRPr>
          </a:p>
        </p:txBody>
      </p:sp>
      <p:pic>
        <p:nvPicPr>
          <p:cNvPr id="6" name="Picture 5">
            <a:extLst>
              <a:ext uri="{FF2B5EF4-FFF2-40B4-BE49-F238E27FC236}">
                <a16:creationId xmlns:a16="http://schemas.microsoft.com/office/drawing/2014/main" id="{B6CF2105-1FC0-AEE3-6920-A8A9349D2BB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47752" y="3692058"/>
            <a:ext cx="3784288" cy="2512799"/>
          </a:xfrm>
          <a:prstGeom prst="rect">
            <a:avLst/>
          </a:prstGeom>
          <a:ln>
            <a:noFill/>
          </a:ln>
          <a:effectLst>
            <a:softEdge rad="112500"/>
          </a:effectLst>
        </p:spPr>
      </p:pic>
      <p:pic>
        <p:nvPicPr>
          <p:cNvPr id="9" name="Picture 8">
            <a:extLst>
              <a:ext uri="{FF2B5EF4-FFF2-40B4-BE49-F238E27FC236}">
                <a16:creationId xmlns:a16="http://schemas.microsoft.com/office/drawing/2014/main" id="{EF255B21-68C2-CE8D-451D-E1B587DECF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9792" y="3692057"/>
            <a:ext cx="3084494" cy="2512799"/>
          </a:xfrm>
          <a:prstGeom prst="rect">
            <a:avLst/>
          </a:prstGeom>
        </p:spPr>
      </p:pic>
    </p:spTree>
    <p:extLst>
      <p:ext uri="{BB962C8B-B14F-4D97-AF65-F5344CB8AC3E}">
        <p14:creationId xmlns:p14="http://schemas.microsoft.com/office/powerpoint/2010/main" val="1469400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1000"/>
                                        <p:tgtEl>
                                          <p:spTgt spid="5">
                                            <p:txEl>
                                              <p:pRg st="3" end="3"/>
                                            </p:txEl>
                                          </p:spTgt>
                                        </p:tgtEl>
                                      </p:cBhvr>
                                    </p:animEffect>
                                    <p:anim calcmode="lin" valueType="num">
                                      <p:cBhvr>
                                        <p:cTn id="2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1000" fill="hold"/>
                                        <p:tgtEl>
                                          <p:spTgt spid="6"/>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0E29A-8BEF-DD77-794A-62971D6F6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F76557-BB93-D035-DA2F-89CA2FA84CBB}"/>
              </a:ext>
            </a:extLst>
          </p:cNvPr>
          <p:cNvSpPr>
            <a:spLocks noGrp="1"/>
          </p:cNvSpPr>
          <p:nvPr>
            <p:ph type="title"/>
          </p:nvPr>
        </p:nvSpPr>
        <p:spPr>
          <a:xfrm>
            <a:off x="1392047" y="2860548"/>
            <a:ext cx="6359906" cy="2127504"/>
          </a:xfrm>
        </p:spPr>
        <p:txBody>
          <a:bodyPr/>
          <a:lstStyle/>
          <a:p>
            <a:r>
              <a:rPr lang="en-US" sz="5400" dirty="0"/>
              <a:t>5. Demo</a:t>
            </a:r>
          </a:p>
        </p:txBody>
      </p:sp>
    </p:spTree>
    <p:extLst>
      <p:ext uri="{BB962C8B-B14F-4D97-AF65-F5344CB8AC3E}">
        <p14:creationId xmlns:p14="http://schemas.microsoft.com/office/powerpoint/2010/main" val="1383321344"/>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30</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994</TotalTime>
  <Words>1858</Words>
  <Application>Microsoft Office PowerPoint</Application>
  <PresentationFormat>On-screen Show (4:3)</PresentationFormat>
  <Paragraphs>203</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Consolas</vt:lpstr>
      <vt:lpstr>Lato</vt:lpstr>
      <vt:lpstr>Office Theme</vt:lpstr>
      <vt:lpstr>PowerPoint Presentation</vt:lpstr>
      <vt:lpstr>PowerPoint Presentation</vt:lpstr>
      <vt:lpstr>Nội dung</vt:lpstr>
      <vt:lpstr>1. Tổng quan dự án</vt:lpstr>
      <vt:lpstr>1. Tổng quan dự án</vt:lpstr>
      <vt:lpstr>2. Biểu đồ UML - Thiết kế hệ thống</vt:lpstr>
      <vt:lpstr>2.1. Biểu đồ phụ thuộc gói</vt:lpstr>
      <vt:lpstr>2.2. Biểu đồ gói model</vt:lpstr>
      <vt:lpstr>2.3. Biểu đồ gói data</vt:lpstr>
      <vt:lpstr>2.4. Biểu đồ gói preprocessor</vt:lpstr>
      <vt:lpstr>2.5. Biểu đồ gói analysis</vt:lpstr>
      <vt:lpstr>2.6. Biểu đồ gói app</vt:lpstr>
      <vt:lpstr>2.7. Biểu đồ gói service </vt:lpstr>
      <vt:lpstr>2.8. Biểu đồ gói ui</vt:lpstr>
      <vt:lpstr>2.9. Biểu đồ gói exception</vt:lpstr>
      <vt:lpstr>3. Kỹ thuật lập trình  -Công nghệ áp dụng</vt:lpstr>
      <vt:lpstr>PowerPoint Presentation</vt:lpstr>
      <vt:lpstr>3.1.1. Tính Kế thừa (Inheritance)</vt:lpstr>
      <vt:lpstr>3.1.2. Tính Trừu tượng (Abstraction)</vt:lpstr>
      <vt:lpstr>3.1.3. Tính Đa hình (Polymorphism)</vt:lpstr>
      <vt:lpstr>3.1.4. Tính Đóng gói (Encapsulation)</vt:lpstr>
      <vt:lpstr>3.2.1. Simple Factory</vt:lpstr>
      <vt:lpstr>3.2.2. Template Method</vt:lpstr>
      <vt:lpstr>3.2.3. Pipeline / Chain of Responsibility</vt:lpstr>
      <vt:lpstr>3.3.2. Exception Handling</vt:lpstr>
      <vt:lpstr>4. Mở rộng yêu cầu</vt:lpstr>
      <vt:lpstr>4.1. Xử lí yêu cầu truy tìm điểm nóng</vt:lpstr>
      <vt:lpstr>4.2. Tích hợp AI trong phân tích số liệu</vt:lpstr>
      <vt:lpstr>5. Demo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Pham Minh Hung 202416928</cp:lastModifiedBy>
  <cp:revision>28</cp:revision>
  <dcterms:created xsi:type="dcterms:W3CDTF">2021-05-28T04:32:29Z</dcterms:created>
  <dcterms:modified xsi:type="dcterms:W3CDTF">2026-06-14T09:18:10Z</dcterms:modified>
</cp:coreProperties>
</file>